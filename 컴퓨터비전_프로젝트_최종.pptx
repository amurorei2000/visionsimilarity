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heme/theme3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51" r:id="rId3"/>
    <p:sldMasterId id="2147483653" r:id="rId4"/>
    <p:sldMasterId id="2147483657" r:id="rId5"/>
    <p:sldMasterId id="2147483659" r:id="rId6"/>
    <p:sldMasterId id="2147483661" r:id="rId7"/>
    <p:sldMasterId id="2147483663" r:id="rId8"/>
    <p:sldMasterId id="2147483665" r:id="rId9"/>
  </p:sldMasterIdLst>
  <p:notesMasterIdLst>
    <p:notesMasterId r:id="rId22"/>
  </p:notesMasterIdLst>
  <p:sldIdLst>
    <p:sldId id="256" r:id="rId10"/>
    <p:sldId id="257" r:id="rId11"/>
    <p:sldId id="266" r:id="rId12"/>
    <p:sldId id="259" r:id="rId13"/>
    <p:sldId id="268" r:id="rId14"/>
    <p:sldId id="269" r:id="rId15"/>
    <p:sldId id="271" r:id="rId16"/>
    <p:sldId id="260" r:id="rId17"/>
    <p:sldId id="261" r:id="rId18"/>
    <p:sldId id="270" r:id="rId19"/>
    <p:sldId id="263" r:id="rId20"/>
    <p:sldId id="264" r:id="rId21"/>
  </p:sldIdLst>
  <p:sldSz cx="14630400" cy="8229600"/>
  <p:notesSz cx="8229600" cy="146304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5" autoAdjust="0"/>
    <p:restoredTop sz="94687"/>
  </p:normalViewPr>
  <p:slideViewPr>
    <p:cSldViewPr snapToGrid="0">
      <p:cViewPr>
        <p:scale>
          <a:sx n="125" d="100"/>
          <a:sy n="125" d="100"/>
        </p:scale>
        <p:origin x="3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4856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2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presProps" Target="presProp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move the slide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4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61D689F-E616-46B9-90B2-53FDCA924026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4A6B63F-1031-4681-8086-F8BD6A7F7DF6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3AC6F92-DFFC-4FC2-B9EF-DCB9C1482E8D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14D1101-52E7-4690-A0AC-CD0458B4C27F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B7A969B-CA42-4B95-A2E0-184C4FFDFA1B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C376DF2-E1F6-45E9-9403-AF69C6764798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083CE-0B86-1F59-1609-210EC73BC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063D63A4-B3B9-D530-19C3-ED9268DF92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922574A3-AA7D-8369-774C-B6880EE1B9E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99F5847C-AA23-CB30-6596-F96F1C90E8D1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9687985-EF49-4107-B1FC-D68C2DA89086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94554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E1113F5-76B4-4D43-9988-65EF3B78B201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A1A6298-70C7-4DE8-B786-F85BD5CA8A37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A16F67-D78E-09DD-45CC-8B61074748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C71043A-9B3F-6947-B51E-5C6195BE6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D3DA08-6CDC-FD53-AD83-B1892AD8A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CDEA-D3FD-4842-9332-F85256CC4843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9814AC-5F12-D806-CE44-04C627EED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F95C9E-72B2-BDF1-06C6-995172445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A4379-97D2-461F-A874-DB9E5F6011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429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A16F67-D78E-09DD-45CC-8B61074748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C71043A-9B3F-6947-B51E-5C6195BE6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D3DA08-6CDC-FD53-AD83-B1892AD8A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CDEA-D3FD-4842-9332-F85256CC4843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9814AC-5F12-D806-CE44-04C627EED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F95C9E-72B2-BDF1-06C6-995172445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A4379-97D2-461F-A874-DB9E5F6011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884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BF4F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BF4F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BF4F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7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BF4F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BF4F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8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BF4F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the title text format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BF4F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BF4F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the title text format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pic>
        <p:nvPicPr>
          <p:cNvPr id="52" name="Image 1" descr="preencoded.png"/>
          <p:cNvPicPr/>
          <p:nvPr/>
        </p:nvPicPr>
        <p:blipFill>
          <a:blip r:embed="rId4"/>
          <a:stretch/>
        </p:blipFill>
        <p:spPr>
          <a:xfrm>
            <a:off x="283320" y="2403360"/>
            <a:ext cx="4919040" cy="3422520"/>
          </a:xfrm>
          <a:prstGeom prst="rect">
            <a:avLst/>
          </a:prstGeom>
          <a:ln w="0">
            <a:noFill/>
          </a:ln>
        </p:spPr>
      </p:pic>
      <p:sp>
        <p:nvSpPr>
          <p:cNvPr id="53" name="Text 0"/>
          <p:cNvSpPr/>
          <p:nvPr/>
        </p:nvSpPr>
        <p:spPr>
          <a:xfrm>
            <a:off x="6280200" y="3054600"/>
            <a:ext cx="7556040" cy="141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zh-CN" sz="4450" b="0" strike="noStrike" spc="-1">
                <a:solidFill>
                  <a:srgbClr val="272D45"/>
                </a:solidFill>
                <a:latin typeface="Kanit Light"/>
                <a:ea typeface="Kanit Light"/>
              </a:rPr>
              <a:t>코사인 유사도를 활용한 영상과 사람의 모션 분석</a:t>
            </a:r>
            <a:endParaRPr lang="en-US" sz="4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6280200" y="4812120"/>
            <a:ext cx="75560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strike="noStrike" spc="-1">
                <a:solidFill>
                  <a:srgbClr val="2C3249"/>
                </a:solidFill>
                <a:latin typeface="Martel Sans"/>
                <a:ea typeface="Martel Sans"/>
              </a:rPr>
              <a:t>AI </a:t>
            </a:r>
            <a:r>
              <a:rPr lang="zh-CN" sz="1750" b="0" strike="noStrike" spc="-1">
                <a:solidFill>
                  <a:srgbClr val="2C3249"/>
                </a:solidFill>
                <a:latin typeface="Martel Sans"/>
                <a:ea typeface="Martel Sans"/>
              </a:rPr>
              <a:t>비전컴퓨팅 </a:t>
            </a:r>
            <a:r>
              <a:rPr lang="en-US" sz="1750" b="0" strike="noStrike" spc="-1">
                <a:solidFill>
                  <a:srgbClr val="2C3249"/>
                </a:solidFill>
                <a:latin typeface="Martel Sans"/>
                <a:ea typeface="Martel Sans"/>
              </a:rPr>
              <a:t>1</a:t>
            </a:r>
            <a:r>
              <a:rPr lang="zh-CN" sz="1750" b="0" strike="noStrike" spc="-1">
                <a:solidFill>
                  <a:srgbClr val="2C3249"/>
                </a:solidFill>
                <a:latin typeface="Martel Sans"/>
                <a:ea typeface="Martel Sans"/>
              </a:rPr>
              <a:t>팀 </a:t>
            </a:r>
            <a:r>
              <a:rPr lang="en-US" sz="1750" b="0" strike="noStrike" spc="-1">
                <a:solidFill>
                  <a:srgbClr val="2C3249"/>
                </a:solidFill>
                <a:latin typeface="Martel Sans"/>
                <a:ea typeface="Martel Sans"/>
              </a:rPr>
              <a:t>: </a:t>
            </a:r>
            <a:r>
              <a:rPr lang="zh-CN" sz="1750" b="0" strike="noStrike" spc="-1">
                <a:solidFill>
                  <a:srgbClr val="2C3249"/>
                </a:solidFill>
                <a:latin typeface="Martel Sans"/>
                <a:ea typeface="Martel Sans"/>
              </a:rPr>
              <a:t>박원석</a:t>
            </a:r>
            <a:r>
              <a:rPr lang="en-US" sz="1750" b="0" strike="noStrike" spc="-1">
                <a:solidFill>
                  <a:srgbClr val="2C3249"/>
                </a:solidFill>
                <a:latin typeface="Martel Sans"/>
                <a:ea typeface="Martel Sans"/>
              </a:rPr>
              <a:t>, </a:t>
            </a:r>
            <a:r>
              <a:rPr lang="zh-CN" sz="1750" b="0" strike="noStrike" spc="-1">
                <a:solidFill>
                  <a:srgbClr val="2C3249"/>
                </a:solidFill>
                <a:latin typeface="Martel Sans"/>
                <a:ea typeface="Martel Sans"/>
              </a:rPr>
              <a:t>양정원</a:t>
            </a:r>
            <a:endParaRPr lang="en-US" sz="17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0" descr="preencoded.png"/>
          <p:cNvPicPr/>
          <p:nvPr/>
        </p:nvPicPr>
        <p:blipFill>
          <a:blip r:embed="rId3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56" name="Text 0"/>
          <p:cNvSpPr/>
          <p:nvPr/>
        </p:nvSpPr>
        <p:spPr>
          <a:xfrm>
            <a:off x="793800" y="2673360"/>
            <a:ext cx="5670360" cy="70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zh-CN" sz="4450" b="0" strike="noStrike" spc="-1">
                <a:solidFill>
                  <a:srgbClr val="272D45"/>
                </a:solidFill>
                <a:latin typeface="Kanit Light"/>
                <a:ea typeface="Kanit Light"/>
              </a:rPr>
              <a:t>소개</a:t>
            </a:r>
            <a:endParaRPr lang="en-US" sz="4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1"/>
          <p:cNvSpPr/>
          <p:nvPr/>
        </p:nvSpPr>
        <p:spPr>
          <a:xfrm>
            <a:off x="793800" y="3977280"/>
            <a:ext cx="396360" cy="396360"/>
          </a:xfrm>
          <a:prstGeom prst="roundRect">
            <a:avLst>
              <a:gd name="adj" fmla="val 24007"/>
            </a:avLst>
          </a:prstGeom>
          <a:solidFill>
            <a:srgbClr val="DFECE9"/>
          </a:solidFill>
          <a:ln w="7560">
            <a:solidFill>
              <a:srgbClr val="C5D2C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2"/>
          <p:cNvSpPr/>
          <p:nvPr/>
        </p:nvSpPr>
        <p:spPr>
          <a:xfrm>
            <a:off x="1417320" y="397728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zh-CN" sz="2200" b="0" strike="noStrike" spc="-1">
                <a:solidFill>
                  <a:srgbClr val="2C3249"/>
                </a:solidFill>
                <a:latin typeface="Kanit Light"/>
                <a:ea typeface="Kanit Light"/>
              </a:rPr>
              <a:t>문제 정의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1417320" y="4467600"/>
            <a:ext cx="3040920" cy="108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zh-CN" sz="1750" b="0" strike="noStrike" spc="-1">
                <a:solidFill>
                  <a:srgbClr val="2C3249"/>
                </a:solidFill>
                <a:latin typeface="Martel Sans"/>
                <a:ea typeface="Martel Sans"/>
              </a:rPr>
              <a:t>실시간으로 사람의 모션을 분석하고 비교할 수 있는 시스템의 필요성</a:t>
            </a:r>
            <a:endParaRPr lang="en-US" sz="1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4"/>
          <p:cNvSpPr/>
          <p:nvPr/>
        </p:nvSpPr>
        <p:spPr>
          <a:xfrm>
            <a:off x="4685400" y="3977280"/>
            <a:ext cx="396360" cy="396360"/>
          </a:xfrm>
          <a:prstGeom prst="roundRect">
            <a:avLst>
              <a:gd name="adj" fmla="val 24007"/>
            </a:avLst>
          </a:prstGeom>
          <a:solidFill>
            <a:srgbClr val="DFECE9"/>
          </a:solidFill>
          <a:ln w="7560">
            <a:solidFill>
              <a:srgbClr val="C5D2C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5309280" y="397728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zh-CN" sz="2200" b="0" strike="noStrike" spc="-1">
                <a:solidFill>
                  <a:srgbClr val="2C3249"/>
                </a:solidFill>
                <a:latin typeface="Kanit Light"/>
                <a:ea typeface="Kanit Light"/>
              </a:rPr>
              <a:t>프로젝트 목적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6"/>
          <p:cNvSpPr/>
          <p:nvPr/>
        </p:nvSpPr>
        <p:spPr>
          <a:xfrm>
            <a:off x="5309280" y="4467600"/>
            <a:ext cx="3040920" cy="108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zh-CN" sz="1750" b="0" strike="noStrike" spc="-1">
                <a:solidFill>
                  <a:srgbClr val="2C3249"/>
                </a:solidFill>
                <a:latin typeface="Martel Sans"/>
                <a:ea typeface="Martel Sans"/>
              </a:rPr>
              <a:t>기준 영상의 사람 모션과 사용자의 동작을 키포인트 분석과 코사인 유사도를 통해 비교</a:t>
            </a:r>
            <a:endParaRPr lang="en-US" sz="17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24A76-5F01-43BE-2B5F-D0D76EADA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C65E8D8-1FA3-7A01-BB8F-72AF01119F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41770" y="0"/>
            <a:ext cx="11146860" cy="8229600"/>
          </a:xfrm>
          <a:prstGeom prst="rect">
            <a:avLst/>
          </a:prstGeom>
        </p:spPr>
      </p:pic>
      <p:sp>
        <p:nvSpPr>
          <p:cNvPr id="2" name="Shape 1">
            <a:extLst>
              <a:ext uri="{FF2B5EF4-FFF2-40B4-BE49-F238E27FC236}">
                <a16:creationId xmlns:a16="http://schemas.microsoft.com/office/drawing/2014/main" id="{85FA12B8-8E53-2548-991A-570D72ACA37B}"/>
              </a:ext>
            </a:extLst>
          </p:cNvPr>
          <p:cNvSpPr/>
          <p:nvPr/>
        </p:nvSpPr>
        <p:spPr>
          <a:xfrm>
            <a:off x="1741770" y="1"/>
            <a:ext cx="3628299" cy="441959"/>
          </a:xfrm>
          <a:prstGeom prst="roundRect">
            <a:avLst>
              <a:gd name="adj" fmla="val 2599"/>
            </a:avLst>
          </a:prstGeom>
          <a:solidFill>
            <a:srgbClr val="DFECE9"/>
          </a:solidFill>
          <a:ln w="7560">
            <a:solidFill>
              <a:srgbClr val="C5D2C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600" b="0" strike="noStrike" spc="-1" dirty="0"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Compare Pose System Flow</a:t>
            </a:r>
          </a:p>
        </p:txBody>
      </p:sp>
    </p:spTree>
    <p:extLst>
      <p:ext uri="{BB962C8B-B14F-4D97-AF65-F5344CB8AC3E}">
        <p14:creationId xmlns:p14="http://schemas.microsoft.com/office/powerpoint/2010/main" val="3571686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76" name="Text 0"/>
          <p:cNvSpPr/>
          <p:nvPr/>
        </p:nvSpPr>
        <p:spPr>
          <a:xfrm>
            <a:off x="6280200" y="1483200"/>
            <a:ext cx="6993840" cy="70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zh-CN" sz="4450" b="0" strike="noStrike" spc="-1" dirty="0">
                <a:solidFill>
                  <a:srgbClr val="272D4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TTF Medium" panose="02000000000000000000" pitchFamily="2" charset="-127"/>
                <a:ea typeface="Kanit Light"/>
              </a:rPr>
              <a:t>모델 선택 및 유사도 측정</a:t>
            </a:r>
            <a:endParaRPr lang="en-US" sz="4450" b="0" strike="noStrike" spc="-1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77" name="Shape 1"/>
          <p:cNvSpPr/>
          <p:nvPr/>
        </p:nvSpPr>
        <p:spPr>
          <a:xfrm>
            <a:off x="6280200" y="2532240"/>
            <a:ext cx="3664440" cy="4213440"/>
          </a:xfrm>
          <a:prstGeom prst="roundRect">
            <a:avLst>
              <a:gd name="adj" fmla="val 2599"/>
            </a:avLst>
          </a:prstGeom>
          <a:solidFill>
            <a:srgbClr val="DFECE9"/>
          </a:solidFill>
          <a:ln w="7560">
            <a:solidFill>
              <a:srgbClr val="C5D2CF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2"/>
          <p:cNvSpPr/>
          <p:nvPr/>
        </p:nvSpPr>
        <p:spPr>
          <a:xfrm>
            <a:off x="6484080" y="3256920"/>
            <a:ext cx="312912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zh-CN" sz="1700" b="0" strike="noStrike" spc="-1" dirty="0">
                <a:solidFill>
                  <a:srgbClr val="2C3249"/>
                </a:solidFill>
                <a:latin typeface="G마켓 산스 TTF Medium" panose="02000000000000000000" pitchFamily="2" charset="-127"/>
                <a:ea typeface="Kanit Light"/>
              </a:rPr>
              <a:t>모델 선택</a:t>
            </a:r>
            <a:r>
              <a:rPr lang="en-US" sz="1700" b="0" strike="noStrike" spc="-1" dirty="0">
                <a:solidFill>
                  <a:srgbClr val="2C3249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YOLOv8n-Pose</a:t>
            </a:r>
            <a:endParaRPr lang="en-US" sz="1700" b="0" strike="noStrike" spc="-1" dirty="0">
              <a:solidFill>
                <a:srgbClr val="FFFFF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79" name="Text 3"/>
          <p:cNvSpPr/>
          <p:nvPr/>
        </p:nvSpPr>
        <p:spPr>
          <a:xfrm>
            <a:off x="6484080" y="4300380"/>
            <a:ext cx="319572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zh-CN" sz="1700" b="0" strike="noStrike" spc="-1" dirty="0">
                <a:solidFill>
                  <a:srgbClr val="2C3249"/>
                </a:solidFill>
                <a:latin typeface="G마켓 산스 TTF Medium" panose="02000000000000000000" pitchFamily="2" charset="-127"/>
                <a:ea typeface="Martel Sans"/>
              </a:rPr>
              <a:t>실시간 키포인트 추출에 적합</a:t>
            </a:r>
            <a:endParaRPr lang="en-US" sz="1700" b="0" strike="noStrike" spc="-1" dirty="0">
              <a:solidFill>
                <a:srgbClr val="FFFFF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0" name="Text 4"/>
          <p:cNvSpPr/>
          <p:nvPr/>
        </p:nvSpPr>
        <p:spPr>
          <a:xfrm>
            <a:off x="6484080" y="4799700"/>
            <a:ext cx="319572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zh-CN" sz="1700" b="0" strike="noStrike" spc="-1" dirty="0">
                <a:solidFill>
                  <a:srgbClr val="2C3249"/>
                </a:solidFill>
                <a:latin typeface="G마켓 산스 TTF Medium" panose="02000000000000000000" pitchFamily="2" charset="-127"/>
                <a:ea typeface="Martel Sans"/>
              </a:rPr>
              <a:t>효율적이고 정확한 성능</a:t>
            </a:r>
            <a:endParaRPr lang="en-US" sz="1700" b="0" strike="noStrike" spc="-1" dirty="0">
              <a:solidFill>
                <a:srgbClr val="FFFFF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1" name="Shape 5"/>
          <p:cNvSpPr/>
          <p:nvPr/>
        </p:nvSpPr>
        <p:spPr>
          <a:xfrm>
            <a:off x="10171800" y="2532240"/>
            <a:ext cx="3664440" cy="4213440"/>
          </a:xfrm>
          <a:prstGeom prst="roundRect">
            <a:avLst>
              <a:gd name="adj" fmla="val 2599"/>
            </a:avLst>
          </a:prstGeom>
          <a:solidFill>
            <a:srgbClr val="DFECE9"/>
          </a:solidFill>
          <a:ln w="7560">
            <a:solidFill>
              <a:srgbClr val="C5D2CF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6"/>
          <p:cNvSpPr/>
          <p:nvPr/>
        </p:nvSpPr>
        <p:spPr>
          <a:xfrm>
            <a:off x="10360440" y="276660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zh-CN" sz="1700" b="0" strike="noStrike" spc="-1">
                <a:solidFill>
                  <a:srgbClr val="2C3249"/>
                </a:solidFill>
                <a:latin typeface="G마켓 산스 TTF Medium" panose="02000000000000000000" pitchFamily="2" charset="-127"/>
                <a:ea typeface="Kanit Light"/>
              </a:rPr>
              <a:t>유사도 측정 방법</a:t>
            </a:r>
            <a:endParaRPr lang="en-US" sz="1700" b="0" strike="noStrike" spc="-1">
              <a:solidFill>
                <a:srgbClr val="FFFFF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3" name="Text 7"/>
          <p:cNvSpPr/>
          <p:nvPr/>
        </p:nvSpPr>
        <p:spPr>
          <a:xfrm>
            <a:off x="10360440" y="3256920"/>
            <a:ext cx="3195720" cy="72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zh-CN" sz="1700" b="0" strike="noStrike" spc="-1" dirty="0">
                <a:solidFill>
                  <a:srgbClr val="2C3249"/>
                </a:solidFill>
                <a:latin typeface="G마켓 산스 TTF Medium" panose="02000000000000000000" pitchFamily="2" charset="-127"/>
                <a:ea typeface="Martel Sans"/>
              </a:rPr>
              <a:t>키포인트 추출</a:t>
            </a:r>
            <a:r>
              <a:rPr lang="en-US" sz="1700" b="0" strike="noStrike" spc="-1" dirty="0">
                <a:solidFill>
                  <a:srgbClr val="2C3249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zh-CN" sz="1700" b="0" strike="noStrike" spc="-1" dirty="0">
                <a:solidFill>
                  <a:srgbClr val="2C3249"/>
                </a:solidFill>
                <a:latin typeface="G마켓 산스 TTF Medium" panose="02000000000000000000" pitchFamily="2" charset="-127"/>
                <a:ea typeface="Martel Sans"/>
              </a:rPr>
              <a:t>기준 및 사용자 영상에서 주요 관절 위치 추출</a:t>
            </a:r>
            <a:endParaRPr lang="en-US" sz="1700" b="0" strike="noStrike" spc="-1" dirty="0">
              <a:solidFill>
                <a:srgbClr val="FFFFF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4" name="Text 8"/>
          <p:cNvSpPr/>
          <p:nvPr/>
        </p:nvSpPr>
        <p:spPr>
          <a:xfrm>
            <a:off x="10360440" y="4119120"/>
            <a:ext cx="319572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zh-CN" sz="1700" b="0" strike="noStrike" spc="-1">
                <a:solidFill>
                  <a:srgbClr val="2C3249"/>
                </a:solidFill>
                <a:latin typeface="G마켓 산스 TTF Medium" panose="02000000000000000000" pitchFamily="2" charset="-127"/>
                <a:ea typeface="Martel Sans"/>
              </a:rPr>
              <a:t>코사인 유사도 계산</a:t>
            </a:r>
            <a:r>
              <a:rPr lang="en-US" sz="1700" b="0" strike="noStrike" spc="-1">
                <a:solidFill>
                  <a:srgbClr val="2C3249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endParaRPr lang="en-US" sz="1700" b="0" strike="noStrike" spc="-1">
              <a:solidFill>
                <a:srgbClr val="FFFFF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5" name="Text 9"/>
          <p:cNvSpPr/>
          <p:nvPr/>
        </p:nvSpPr>
        <p:spPr>
          <a:xfrm>
            <a:off x="10360440" y="4618080"/>
            <a:ext cx="3195720" cy="108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>
              <a:lnSpc>
                <a:spcPts val="2849"/>
              </a:lnSpc>
              <a:buClr>
                <a:srgbClr val="2C3249"/>
              </a:buClr>
              <a:buFont typeface="Symbol" charset="2"/>
              <a:buChar char=""/>
            </a:pPr>
            <a:r>
              <a:rPr lang="zh-CN" sz="1700" b="0" strike="noStrike" spc="-1">
                <a:solidFill>
                  <a:srgbClr val="2C3249"/>
                </a:solidFill>
                <a:latin typeface="G마켓 산스 TTF Medium" panose="02000000000000000000" pitchFamily="2" charset="-127"/>
                <a:ea typeface="Martel Sans"/>
              </a:rPr>
              <a:t>키포인트 벡터를 비교하여 기준 모션과 사용자의 모션 간 유사도를 평가</a:t>
            </a:r>
            <a:endParaRPr lang="en-US" sz="1700" b="0" strike="noStrike" spc="-1">
              <a:solidFill>
                <a:srgbClr val="FFFFF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6" name="Text 10"/>
          <p:cNvSpPr/>
          <p:nvPr/>
        </p:nvSpPr>
        <p:spPr>
          <a:xfrm>
            <a:off x="10360440" y="5785920"/>
            <a:ext cx="3195720" cy="72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>
              <a:lnSpc>
                <a:spcPts val="2849"/>
              </a:lnSpc>
              <a:buClr>
                <a:srgbClr val="2C3249"/>
              </a:buClr>
              <a:buFont typeface="Symbol" charset="2"/>
              <a:buChar char=""/>
            </a:pPr>
            <a:r>
              <a:rPr lang="zh-CN" sz="1700" b="0" strike="noStrike" spc="-1">
                <a:solidFill>
                  <a:srgbClr val="2C3249"/>
                </a:solidFill>
                <a:latin typeface="G마켓 산스 TTF Medium" panose="02000000000000000000" pitchFamily="2" charset="-127"/>
                <a:ea typeface="Martel Sans"/>
              </a:rPr>
              <a:t>유사도가 높을수록 모션이 일치</a:t>
            </a:r>
            <a:endParaRPr lang="en-US" sz="1700" b="0" strike="noStrike" spc="-1">
              <a:solidFill>
                <a:srgbClr val="FFFFF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C6DA27A-FAC0-DDB7-6950-6C0C6D525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48" t="2739" r="31165" b="7488"/>
          <a:stretch/>
        </p:blipFill>
        <p:spPr>
          <a:xfrm>
            <a:off x="2418671" y="1757754"/>
            <a:ext cx="2677860" cy="331528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B9809A4-0E54-4CC4-C319-2B3CF33B02F8}"/>
              </a:ext>
            </a:extLst>
          </p:cNvPr>
          <p:cNvCxnSpPr>
            <a:cxnSpLocks/>
            <a:stCxn id="16" idx="4"/>
            <a:endCxn id="18" idx="0"/>
          </p:cNvCxnSpPr>
          <p:nvPr/>
        </p:nvCxnSpPr>
        <p:spPr>
          <a:xfrm>
            <a:off x="3224999" y="3417602"/>
            <a:ext cx="0" cy="324446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6F648A3-9CFD-B38D-29B8-F12216099207}"/>
              </a:ext>
            </a:extLst>
          </p:cNvPr>
          <p:cNvCxnSpPr>
            <a:cxnSpLocks/>
            <a:stCxn id="18" idx="4"/>
            <a:endCxn id="19" idx="0"/>
          </p:cNvCxnSpPr>
          <p:nvPr/>
        </p:nvCxnSpPr>
        <p:spPr>
          <a:xfrm flipH="1">
            <a:off x="3120423" y="3830405"/>
            <a:ext cx="104576" cy="436254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타원 15">
            <a:extLst>
              <a:ext uri="{FF2B5EF4-FFF2-40B4-BE49-F238E27FC236}">
                <a16:creationId xmlns:a16="http://schemas.microsoft.com/office/drawing/2014/main" id="{7ABA175F-362E-C139-5A89-789D98089ED1}"/>
              </a:ext>
            </a:extLst>
          </p:cNvPr>
          <p:cNvSpPr/>
          <p:nvPr/>
        </p:nvSpPr>
        <p:spPr>
          <a:xfrm>
            <a:off x="3180820" y="3329245"/>
            <a:ext cx="88357" cy="88357"/>
          </a:xfrm>
          <a:prstGeom prst="ellipse">
            <a:avLst/>
          </a:prstGeom>
          <a:solidFill>
            <a:srgbClr val="FFC000"/>
          </a:solidFill>
          <a:ln w="63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6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BD9E1095-5A57-CAEE-D23D-D43DD5255524}"/>
              </a:ext>
            </a:extLst>
          </p:cNvPr>
          <p:cNvSpPr/>
          <p:nvPr/>
        </p:nvSpPr>
        <p:spPr>
          <a:xfrm>
            <a:off x="3180820" y="3742048"/>
            <a:ext cx="88357" cy="88357"/>
          </a:xfrm>
          <a:prstGeom prst="ellipse">
            <a:avLst/>
          </a:prstGeom>
          <a:solidFill>
            <a:srgbClr val="FFC000"/>
          </a:solidFill>
          <a:ln w="63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60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0DFA9325-ED60-372D-83F7-27B8707EF039}"/>
              </a:ext>
            </a:extLst>
          </p:cNvPr>
          <p:cNvSpPr/>
          <p:nvPr/>
        </p:nvSpPr>
        <p:spPr>
          <a:xfrm>
            <a:off x="3076244" y="4266659"/>
            <a:ext cx="88357" cy="88357"/>
          </a:xfrm>
          <a:prstGeom prst="ellipse">
            <a:avLst/>
          </a:prstGeom>
          <a:solidFill>
            <a:srgbClr val="FFC000"/>
          </a:solidFill>
          <a:ln w="63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6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137311-9544-9E91-D41B-88F5A8FB85B5}"/>
              </a:ext>
            </a:extLst>
          </p:cNvPr>
          <p:cNvSpPr txBox="1"/>
          <p:nvPr/>
        </p:nvSpPr>
        <p:spPr>
          <a:xfrm>
            <a:off x="2676435" y="3206572"/>
            <a:ext cx="380232" cy="276999"/>
          </a:xfrm>
          <a:prstGeom prst="rect">
            <a:avLst/>
          </a:prstGeom>
          <a:solidFill>
            <a:srgbClr val="0319BD">
              <a:alpha val="34118"/>
            </a:srgbClr>
          </a:solidFill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A1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840385-3C0D-A060-FB09-C6EC301D6A94}"/>
              </a:ext>
            </a:extLst>
          </p:cNvPr>
          <p:cNvSpPr txBox="1"/>
          <p:nvPr/>
        </p:nvSpPr>
        <p:spPr>
          <a:xfrm>
            <a:off x="3375577" y="3659817"/>
            <a:ext cx="380232" cy="276999"/>
          </a:xfrm>
          <a:prstGeom prst="rect">
            <a:avLst/>
          </a:prstGeom>
          <a:solidFill>
            <a:srgbClr val="0319BD">
              <a:alpha val="34118"/>
            </a:srgb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 altLang="ko-KR" sz="1200" dirty="0"/>
              <a:t>A2</a:t>
            </a:r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0248B0-7E5E-B492-7052-94C8C4A69B7E}"/>
              </a:ext>
            </a:extLst>
          </p:cNvPr>
          <p:cNvSpPr txBox="1"/>
          <p:nvPr/>
        </p:nvSpPr>
        <p:spPr>
          <a:xfrm>
            <a:off x="2615203" y="4172337"/>
            <a:ext cx="380232" cy="276999"/>
          </a:xfrm>
          <a:prstGeom prst="rect">
            <a:avLst/>
          </a:prstGeom>
          <a:solidFill>
            <a:srgbClr val="0319BD">
              <a:alpha val="34118"/>
            </a:srgb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 altLang="ko-KR" sz="1200" dirty="0"/>
              <a:t>A3</a:t>
            </a:r>
            <a:endParaRPr lang="ko-KR" altLang="en-US" sz="1200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C929B7E5-9FDB-3665-B234-A4391E868C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02" t="2999" r="21310" b="9223"/>
          <a:stretch/>
        </p:blipFill>
        <p:spPr>
          <a:xfrm>
            <a:off x="9490763" y="1757754"/>
            <a:ext cx="2592795" cy="330899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610D8A9-033C-6A6C-5594-27C04F5D809D}"/>
              </a:ext>
            </a:extLst>
          </p:cNvPr>
          <p:cNvCxnSpPr>
            <a:cxnSpLocks/>
            <a:stCxn id="33" idx="4"/>
            <a:endCxn id="34" idx="0"/>
          </p:cNvCxnSpPr>
          <p:nvPr/>
        </p:nvCxnSpPr>
        <p:spPr>
          <a:xfrm>
            <a:off x="10325621" y="3506811"/>
            <a:ext cx="54912" cy="341656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B6E647B9-8D12-0920-BA0D-F35E04D94E07}"/>
              </a:ext>
            </a:extLst>
          </p:cNvPr>
          <p:cNvCxnSpPr>
            <a:cxnSpLocks/>
            <a:stCxn id="34" idx="4"/>
            <a:endCxn id="35" idx="0"/>
          </p:cNvCxnSpPr>
          <p:nvPr/>
        </p:nvCxnSpPr>
        <p:spPr>
          <a:xfrm>
            <a:off x="10380533" y="3936824"/>
            <a:ext cx="1519" cy="420283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타원 32">
            <a:extLst>
              <a:ext uri="{FF2B5EF4-FFF2-40B4-BE49-F238E27FC236}">
                <a16:creationId xmlns:a16="http://schemas.microsoft.com/office/drawing/2014/main" id="{3F92C3D4-FAA0-5810-693B-3F7387A75235}"/>
              </a:ext>
            </a:extLst>
          </p:cNvPr>
          <p:cNvSpPr/>
          <p:nvPr/>
        </p:nvSpPr>
        <p:spPr>
          <a:xfrm>
            <a:off x="10281442" y="3418454"/>
            <a:ext cx="88357" cy="88357"/>
          </a:xfrm>
          <a:prstGeom prst="ellipse">
            <a:avLst/>
          </a:prstGeom>
          <a:solidFill>
            <a:srgbClr val="FFC000"/>
          </a:solidFill>
          <a:ln w="63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6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8FD46D4A-1DF5-E8AE-F5F1-AF038776F9EB}"/>
              </a:ext>
            </a:extLst>
          </p:cNvPr>
          <p:cNvSpPr/>
          <p:nvPr/>
        </p:nvSpPr>
        <p:spPr>
          <a:xfrm>
            <a:off x="10336354" y="3848467"/>
            <a:ext cx="88357" cy="88357"/>
          </a:xfrm>
          <a:prstGeom prst="ellipse">
            <a:avLst/>
          </a:prstGeom>
          <a:solidFill>
            <a:srgbClr val="FFC000"/>
          </a:solidFill>
          <a:ln w="63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6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07967DD3-7BBB-BDDF-D815-59F49643C3D5}"/>
              </a:ext>
            </a:extLst>
          </p:cNvPr>
          <p:cNvSpPr/>
          <p:nvPr/>
        </p:nvSpPr>
        <p:spPr>
          <a:xfrm>
            <a:off x="10337873" y="4357107"/>
            <a:ext cx="88357" cy="88357"/>
          </a:xfrm>
          <a:prstGeom prst="ellipse">
            <a:avLst/>
          </a:prstGeom>
          <a:solidFill>
            <a:srgbClr val="FFC000"/>
          </a:solidFill>
          <a:ln w="63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6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4CB458-D1B7-B9FF-8395-72C983F8E736}"/>
              </a:ext>
            </a:extLst>
          </p:cNvPr>
          <p:cNvSpPr txBox="1"/>
          <p:nvPr/>
        </p:nvSpPr>
        <p:spPr>
          <a:xfrm>
            <a:off x="9794764" y="3329245"/>
            <a:ext cx="380232" cy="276999"/>
          </a:xfrm>
          <a:prstGeom prst="rect">
            <a:avLst/>
          </a:prstGeom>
          <a:solidFill>
            <a:srgbClr val="0319BD">
              <a:alpha val="34118"/>
            </a:srgbClr>
          </a:solidFill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B1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7AF22B-6224-DDD7-C281-2E6770A127DD}"/>
              </a:ext>
            </a:extLst>
          </p:cNvPr>
          <p:cNvSpPr txBox="1"/>
          <p:nvPr/>
        </p:nvSpPr>
        <p:spPr>
          <a:xfrm>
            <a:off x="10555777" y="3742048"/>
            <a:ext cx="380232" cy="276999"/>
          </a:xfrm>
          <a:prstGeom prst="rect">
            <a:avLst/>
          </a:prstGeom>
          <a:solidFill>
            <a:srgbClr val="0319BD">
              <a:alpha val="34118"/>
            </a:srgb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 altLang="ko-KR" sz="1200" dirty="0"/>
              <a:t>B2</a:t>
            </a:r>
            <a:endParaRPr lang="ko-KR" altLang="en-US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2149E7-1D2B-6655-62F8-B886D3188A20}"/>
              </a:ext>
            </a:extLst>
          </p:cNvPr>
          <p:cNvSpPr txBox="1"/>
          <p:nvPr/>
        </p:nvSpPr>
        <p:spPr>
          <a:xfrm>
            <a:off x="9855378" y="4253469"/>
            <a:ext cx="380232" cy="276999"/>
          </a:xfrm>
          <a:prstGeom prst="rect">
            <a:avLst/>
          </a:prstGeom>
          <a:solidFill>
            <a:srgbClr val="0319BD">
              <a:alpha val="34118"/>
            </a:srgb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 altLang="ko-KR" sz="1200" dirty="0"/>
              <a:t>B3</a:t>
            </a:r>
            <a:endParaRPr lang="ko-KR" altLang="en-US" sz="1200" dirty="0"/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FC1FDC86-BCE2-7A19-F1C9-CF5298C753E9}"/>
              </a:ext>
            </a:extLst>
          </p:cNvPr>
          <p:cNvCxnSpPr/>
          <p:nvPr/>
        </p:nvCxnSpPr>
        <p:spPr>
          <a:xfrm>
            <a:off x="1914144" y="3026776"/>
            <a:ext cx="0" cy="81218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976D2D7C-4926-3254-0F36-3EE55FBA9C1E}"/>
              </a:ext>
            </a:extLst>
          </p:cNvPr>
          <p:cNvCxnSpPr>
            <a:cxnSpLocks/>
          </p:cNvCxnSpPr>
          <p:nvPr/>
        </p:nvCxnSpPr>
        <p:spPr>
          <a:xfrm flipH="1">
            <a:off x="1660128" y="3838965"/>
            <a:ext cx="254017" cy="65216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D8256A9-DDB2-DBB6-A747-A47414F35F01}"/>
              </a:ext>
            </a:extLst>
          </p:cNvPr>
          <p:cNvSpPr txBox="1"/>
          <p:nvPr/>
        </p:nvSpPr>
        <p:spPr>
          <a:xfrm>
            <a:off x="1462449" y="3230563"/>
            <a:ext cx="364202" cy="276999"/>
          </a:xfrm>
          <a:prstGeom prst="rect">
            <a:avLst/>
          </a:prstGeom>
          <a:solidFill>
            <a:srgbClr val="B50B7C">
              <a:alpha val="34118"/>
            </a:srgbClr>
          </a:solidFill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p1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460CFBC-538D-50A4-6336-4158D1E56755}"/>
              </a:ext>
            </a:extLst>
          </p:cNvPr>
          <p:cNvSpPr txBox="1"/>
          <p:nvPr/>
        </p:nvSpPr>
        <p:spPr>
          <a:xfrm>
            <a:off x="1849009" y="4038268"/>
            <a:ext cx="364202" cy="276999"/>
          </a:xfrm>
          <a:prstGeom prst="rect">
            <a:avLst/>
          </a:prstGeom>
          <a:solidFill>
            <a:srgbClr val="B50B7C">
              <a:alpha val="34118"/>
            </a:srgb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 altLang="ko-KR" sz="1200" dirty="0"/>
              <a:t>p2</a:t>
            </a:r>
            <a:endParaRPr lang="ko-KR" altLang="en-US" sz="1200" dirty="0"/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9B436CA6-63E4-E940-8973-C1178C1151A0}"/>
              </a:ext>
            </a:extLst>
          </p:cNvPr>
          <p:cNvCxnSpPr>
            <a:cxnSpLocks/>
          </p:cNvCxnSpPr>
          <p:nvPr/>
        </p:nvCxnSpPr>
        <p:spPr>
          <a:xfrm>
            <a:off x="8640332" y="3329245"/>
            <a:ext cx="127008" cy="69850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0A66F047-C4FA-C7DD-B3BF-DCA06EBF8285}"/>
              </a:ext>
            </a:extLst>
          </p:cNvPr>
          <p:cNvCxnSpPr>
            <a:cxnSpLocks/>
          </p:cNvCxnSpPr>
          <p:nvPr/>
        </p:nvCxnSpPr>
        <p:spPr>
          <a:xfrm>
            <a:off x="8767341" y="4027750"/>
            <a:ext cx="0" cy="67379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E345BE0-A399-4CEF-DAF7-3AA46E08597E}"/>
              </a:ext>
            </a:extLst>
          </p:cNvPr>
          <p:cNvSpPr txBox="1"/>
          <p:nvPr/>
        </p:nvSpPr>
        <p:spPr>
          <a:xfrm>
            <a:off x="8109905" y="3465068"/>
            <a:ext cx="364202" cy="276999"/>
          </a:xfrm>
          <a:prstGeom prst="rect">
            <a:avLst/>
          </a:prstGeom>
          <a:solidFill>
            <a:srgbClr val="B50B7C">
              <a:alpha val="34118"/>
            </a:srgbClr>
          </a:solidFill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p3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BE6D228-2F80-BFCD-C047-85DAE8643565}"/>
              </a:ext>
            </a:extLst>
          </p:cNvPr>
          <p:cNvSpPr txBox="1"/>
          <p:nvPr/>
        </p:nvSpPr>
        <p:spPr>
          <a:xfrm>
            <a:off x="8938426" y="4227053"/>
            <a:ext cx="364202" cy="276999"/>
          </a:xfrm>
          <a:prstGeom prst="rect">
            <a:avLst/>
          </a:prstGeom>
          <a:solidFill>
            <a:srgbClr val="B50B7C">
              <a:alpha val="34118"/>
            </a:srgb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 altLang="ko-KR" sz="1200" dirty="0"/>
              <a:t>p4</a:t>
            </a:r>
            <a:endParaRPr lang="ko-KR" altLang="en-US" sz="1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2538EC-E151-9A2D-1F4A-D4C84856E9B3}"/>
              </a:ext>
            </a:extLst>
          </p:cNvPr>
          <p:cNvSpPr txBox="1"/>
          <p:nvPr/>
        </p:nvSpPr>
        <p:spPr>
          <a:xfrm>
            <a:off x="3022274" y="1146448"/>
            <a:ext cx="1467069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16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Image A</a:t>
            </a:r>
            <a:endParaRPr lang="ko-KR" altLang="en-US" sz="2160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3F6BB1B-E011-A5C0-AC4B-5C299B3BF6B5}"/>
              </a:ext>
            </a:extLst>
          </p:cNvPr>
          <p:cNvSpPr txBox="1"/>
          <p:nvPr/>
        </p:nvSpPr>
        <p:spPr>
          <a:xfrm>
            <a:off x="10061640" y="1146448"/>
            <a:ext cx="1451039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16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Image B</a:t>
            </a:r>
            <a:endParaRPr lang="ko-KR" altLang="en-US" sz="2160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F33319A-987B-95C1-D528-49A8832FF349}"/>
              </a:ext>
            </a:extLst>
          </p:cNvPr>
          <p:cNvSpPr/>
          <p:nvPr/>
        </p:nvSpPr>
        <p:spPr>
          <a:xfrm>
            <a:off x="946254" y="5361462"/>
            <a:ext cx="5414855" cy="2530604"/>
          </a:xfrm>
          <a:prstGeom prst="roundRect">
            <a:avLst>
              <a:gd name="adj" fmla="val 2599"/>
            </a:avLst>
          </a:prstGeom>
          <a:solidFill>
            <a:srgbClr val="DFECE9"/>
          </a:solidFill>
          <a:ln w="7560">
            <a:solidFill>
              <a:srgbClr val="C5D2CF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411480" indent="-411480">
              <a:buAutoNum type="arabicParenR"/>
            </a:pPr>
            <a:r>
              <a:rPr lang="en-US" altLang="ko-KR" sz="2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Keypoints</a:t>
            </a: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 </a:t>
            </a:r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Directional Vectorize</a:t>
            </a:r>
          </a:p>
          <a:p>
            <a:pPr marL="411480" indent="-411480">
              <a:buAutoNum type="arabicParenR"/>
            </a:pPr>
            <a:endParaRPr lang="en-US" altLang="ko-KR" sz="2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p1 = A2 – A1</a:t>
            </a:r>
          </a:p>
          <a:p>
            <a:pPr lvl="1"/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p2 = B2 – B1</a:t>
            </a:r>
          </a:p>
          <a:p>
            <a:pPr lvl="1"/>
            <a:endParaRPr lang="en-US" altLang="ko-KR" sz="2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p3 = A3 – A2</a:t>
            </a:r>
          </a:p>
          <a:p>
            <a:pPr lvl="1"/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p4 = B3 – B2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34B03-F38A-9587-6A1D-A487040C17A1}"/>
              </a:ext>
            </a:extLst>
          </p:cNvPr>
          <p:cNvSpPr/>
          <p:nvPr/>
        </p:nvSpPr>
        <p:spPr>
          <a:xfrm>
            <a:off x="8071026" y="5336657"/>
            <a:ext cx="5414855" cy="2530604"/>
          </a:xfrm>
          <a:prstGeom prst="roundRect">
            <a:avLst>
              <a:gd name="adj" fmla="val 2599"/>
            </a:avLst>
          </a:prstGeom>
          <a:solidFill>
            <a:srgbClr val="DFECE9"/>
          </a:solidFill>
          <a:ln w="7560">
            <a:solidFill>
              <a:srgbClr val="C5D2CF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411480" indent="-411480">
              <a:buFont typeface="+mj-lt"/>
              <a:buAutoNum type="arabicParenR" startAt="2"/>
            </a:pP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벡터 정규화</a:t>
            </a:r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(Normalize)</a:t>
            </a:r>
          </a:p>
          <a:p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</a:t>
            </a:r>
          </a:p>
          <a:p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</a:t>
            </a:r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normalize_p1 = p1 / distance(p1)</a:t>
            </a:r>
          </a:p>
          <a:p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</a:t>
            </a:r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normalize_p2 = p2 / distance(p2)</a:t>
            </a:r>
          </a:p>
          <a:p>
            <a:endParaRPr lang="en-US" altLang="ko-KR" sz="2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normalize_p3 = p3 / distance(p3)</a:t>
            </a:r>
          </a:p>
          <a:p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</a:t>
            </a:r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normalize_p4 = p4 / distance(p4)</a:t>
            </a:r>
            <a:endParaRPr lang="ko-KR" altLang="en-US" sz="2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0C3D2E-C5D4-F69A-06B9-EAAAF57BEC7E}"/>
              </a:ext>
            </a:extLst>
          </p:cNvPr>
          <p:cNvSpPr txBox="1"/>
          <p:nvPr/>
        </p:nvSpPr>
        <p:spPr>
          <a:xfrm>
            <a:off x="471579" y="149045"/>
            <a:ext cx="585128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Compute Similarity Type 1</a:t>
            </a:r>
            <a:endParaRPr lang="ko-KR" altLang="en-US" sz="3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EEE749F-9253-9F57-FCC3-CC6CF6B31D60}"/>
              </a:ext>
            </a:extLst>
          </p:cNvPr>
          <p:cNvCxnSpPr/>
          <p:nvPr/>
        </p:nvCxnSpPr>
        <p:spPr>
          <a:xfrm>
            <a:off x="403860" y="731520"/>
            <a:ext cx="7052700" cy="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839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11799-3DE2-E1B4-5130-B85DA3783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부분 원형 3">
            <a:extLst>
              <a:ext uri="{FF2B5EF4-FFF2-40B4-BE49-F238E27FC236}">
                <a16:creationId xmlns:a16="http://schemas.microsoft.com/office/drawing/2014/main" id="{3763A324-62F2-44D5-43F7-9E503107EC29}"/>
              </a:ext>
            </a:extLst>
          </p:cNvPr>
          <p:cNvSpPr/>
          <p:nvPr/>
        </p:nvSpPr>
        <p:spPr>
          <a:xfrm>
            <a:off x="3261124" y="1235828"/>
            <a:ext cx="1131661" cy="1189820"/>
          </a:xfrm>
          <a:prstGeom prst="pie">
            <a:avLst>
              <a:gd name="adj1" fmla="val 7061673"/>
              <a:gd name="adj2" fmla="val 7876048"/>
            </a:avLst>
          </a:prstGeom>
          <a:solidFill>
            <a:srgbClr val="4472C4">
              <a:alpha val="6588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부분 원형 9">
            <a:extLst>
              <a:ext uri="{FF2B5EF4-FFF2-40B4-BE49-F238E27FC236}">
                <a16:creationId xmlns:a16="http://schemas.microsoft.com/office/drawing/2014/main" id="{8043E68B-C8E9-658C-3814-57DDB1B31AEB}"/>
              </a:ext>
            </a:extLst>
          </p:cNvPr>
          <p:cNvSpPr/>
          <p:nvPr/>
        </p:nvSpPr>
        <p:spPr>
          <a:xfrm rot="20932180">
            <a:off x="4016788" y="1032460"/>
            <a:ext cx="1326942" cy="1317546"/>
          </a:xfrm>
          <a:prstGeom prst="pie">
            <a:avLst>
              <a:gd name="adj1" fmla="val 7712730"/>
              <a:gd name="adj2" fmla="val 847974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60">
              <a:solidFill>
                <a:schemeClr val="tx1"/>
              </a:solidFill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930329DC-36C9-4920-A14E-77FBB569D7E7}"/>
              </a:ext>
            </a:extLst>
          </p:cNvPr>
          <p:cNvCxnSpPr>
            <a:cxnSpLocks/>
          </p:cNvCxnSpPr>
          <p:nvPr/>
        </p:nvCxnSpPr>
        <p:spPr>
          <a:xfrm flipH="1">
            <a:off x="2895131" y="1830516"/>
            <a:ext cx="924204" cy="1871663"/>
          </a:xfrm>
          <a:prstGeom prst="straightConnector1">
            <a:avLst/>
          </a:prstGeom>
          <a:ln w="28575">
            <a:solidFill>
              <a:srgbClr val="0319BD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ABB58957-5100-E111-F7CB-C7072BA16FEF}"/>
              </a:ext>
            </a:extLst>
          </p:cNvPr>
          <p:cNvCxnSpPr>
            <a:cxnSpLocks/>
          </p:cNvCxnSpPr>
          <p:nvPr/>
        </p:nvCxnSpPr>
        <p:spPr>
          <a:xfrm flipH="1">
            <a:off x="2426481" y="1830515"/>
            <a:ext cx="1392854" cy="1596756"/>
          </a:xfrm>
          <a:prstGeom prst="straightConnector1">
            <a:avLst/>
          </a:prstGeom>
          <a:ln w="28575">
            <a:solidFill>
              <a:srgbClr val="06BA1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C2BF1BB-924A-B39C-B9FA-2A8004C73120}"/>
              </a:ext>
            </a:extLst>
          </p:cNvPr>
          <p:cNvSpPr txBox="1"/>
          <p:nvPr/>
        </p:nvSpPr>
        <p:spPr>
          <a:xfrm>
            <a:off x="2039260" y="2818023"/>
            <a:ext cx="436338" cy="350865"/>
          </a:xfrm>
          <a:prstGeom prst="rect">
            <a:avLst/>
          </a:prstGeom>
          <a:solidFill>
            <a:srgbClr val="B50B7C">
              <a:alpha val="58039"/>
            </a:srgbClr>
          </a:solidFill>
        </p:spPr>
        <p:txBody>
          <a:bodyPr wrap="none" rtlCol="0">
            <a:spAutoFit/>
          </a:bodyPr>
          <a:lstStyle/>
          <a:p>
            <a:r>
              <a:rPr lang="en-US" altLang="ko-KR" sz="1680" b="1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p1</a:t>
            </a:r>
            <a:endParaRPr lang="ko-KR" altLang="en-US" sz="1680" b="1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88DCE5-7821-67DA-E07B-927A725E6B69}"/>
              </a:ext>
            </a:extLst>
          </p:cNvPr>
          <p:cNvSpPr txBox="1"/>
          <p:nvPr/>
        </p:nvSpPr>
        <p:spPr>
          <a:xfrm>
            <a:off x="3224285" y="3251839"/>
            <a:ext cx="481222" cy="350865"/>
          </a:xfrm>
          <a:prstGeom prst="rect">
            <a:avLst/>
          </a:prstGeom>
          <a:solidFill>
            <a:srgbClr val="B50B7C">
              <a:alpha val="58039"/>
            </a:srgb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 altLang="ko-KR" sz="168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p2</a:t>
            </a:r>
            <a:endParaRPr lang="ko-KR" altLang="en-US" sz="168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EC2EA2-8E68-C702-1D7B-9F4CF37A3D4A}"/>
              </a:ext>
            </a:extLst>
          </p:cNvPr>
          <p:cNvSpPr txBox="1"/>
          <p:nvPr/>
        </p:nvSpPr>
        <p:spPr>
          <a:xfrm>
            <a:off x="4232555" y="1949655"/>
            <a:ext cx="301686" cy="350865"/>
          </a:xfrm>
          <a:prstGeom prst="rect">
            <a:avLst/>
          </a:prstGeom>
          <a:solidFill>
            <a:srgbClr val="B82508">
              <a:alpha val="63922"/>
            </a:srgb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l-GR" altLang="ko-KR" sz="1680" dirty="0">
                <a:ea typeface="G마켓 산스 TTF Medium" panose="02000000000000000000" pitchFamily="2" charset="-127"/>
              </a:rPr>
              <a:t>θ</a:t>
            </a:r>
            <a:endParaRPr lang="ko-KR" altLang="en-US" sz="168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CDFE84B-5DDA-6F36-F1DB-317320A65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45" t="13501" r="20375" b="15000"/>
          <a:stretch/>
        </p:blipFill>
        <p:spPr>
          <a:xfrm>
            <a:off x="8531194" y="1585500"/>
            <a:ext cx="2816671" cy="2501584"/>
          </a:xfrm>
          <a:prstGeom prst="rect">
            <a:avLst/>
          </a:prstGeom>
        </p:spPr>
      </p:pic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85E7E4B5-69ED-D302-31EE-EA895944684C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3541403" y="2125088"/>
            <a:ext cx="691152" cy="136191"/>
          </a:xfrm>
          <a:prstGeom prst="bentConnector3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hape 1">
            <a:extLst>
              <a:ext uri="{FF2B5EF4-FFF2-40B4-BE49-F238E27FC236}">
                <a16:creationId xmlns:a16="http://schemas.microsoft.com/office/drawing/2014/main" id="{7E94088E-66A1-CDB8-49F1-170CBF806D5E}"/>
              </a:ext>
            </a:extLst>
          </p:cNvPr>
          <p:cNvSpPr/>
          <p:nvPr/>
        </p:nvSpPr>
        <p:spPr>
          <a:xfrm>
            <a:off x="935051" y="5351228"/>
            <a:ext cx="5414855" cy="2217139"/>
          </a:xfrm>
          <a:prstGeom prst="roundRect">
            <a:avLst>
              <a:gd name="adj" fmla="val 2599"/>
            </a:avLst>
          </a:prstGeom>
          <a:solidFill>
            <a:srgbClr val="DFECE9"/>
          </a:solidFill>
          <a:ln w="7560">
            <a:solidFill>
              <a:srgbClr val="C5D2CF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411480" indent="-411480">
              <a:buFont typeface="+mj-lt"/>
              <a:buAutoNum type="arabicParenR" startAt="3"/>
            </a:pP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두 벡터의 내적 연산</a:t>
            </a:r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(Dot product)</a:t>
            </a:r>
          </a:p>
          <a:p>
            <a:pPr lvl="1"/>
            <a:endParaRPr lang="en-US" altLang="ko-KR" sz="2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cos</a:t>
            </a:r>
            <a:r>
              <a:rPr lang="el-GR" altLang="ko-KR" sz="2000" dirty="0">
                <a:ea typeface="G마켓 산스 TTF Medium" panose="02000000000000000000" pitchFamily="2" charset="-127"/>
              </a:rPr>
              <a:t>θ</a:t>
            </a:r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_1 = dot(p1, p3)</a:t>
            </a:r>
          </a:p>
          <a:p>
            <a:pPr lvl="1"/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cos</a:t>
            </a:r>
            <a:r>
              <a:rPr lang="el-GR" altLang="ko-KR" sz="2000" dirty="0">
                <a:ea typeface="G마켓 산스 TTF Medium" panose="02000000000000000000" pitchFamily="2" charset="-127"/>
              </a:rPr>
              <a:t>θ</a:t>
            </a:r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_2 = dot(p2, p4)</a:t>
            </a:r>
          </a:p>
          <a:p>
            <a:pPr lvl="1"/>
            <a:endParaRPr lang="en-US" altLang="ko-KR" sz="2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cos</a:t>
            </a:r>
            <a:r>
              <a:rPr lang="el-GR" altLang="ko-KR" sz="2000" dirty="0">
                <a:ea typeface="G마켓 산스 TTF Medium" panose="02000000000000000000" pitchFamily="2" charset="-127"/>
              </a:rPr>
              <a:t>θ</a:t>
            </a:r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_mean = (cos</a:t>
            </a:r>
            <a:r>
              <a:rPr lang="el-GR" altLang="ko-KR" sz="2000" dirty="0">
                <a:ea typeface="G마켓 산스 TTF Medium" panose="02000000000000000000" pitchFamily="2" charset="-127"/>
              </a:rPr>
              <a:t>θ</a:t>
            </a:r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_1 + cos</a:t>
            </a:r>
            <a:r>
              <a:rPr lang="el-GR" altLang="ko-KR" sz="2000" dirty="0">
                <a:ea typeface="G마켓 산스 TTF Medium" panose="02000000000000000000" pitchFamily="2" charset="-127"/>
              </a:rPr>
              <a:t>θ</a:t>
            </a:r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_2) / 2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07BA109-04A0-F99F-6A97-284CFDDDEFCE}"/>
              </a:ext>
            </a:extLst>
          </p:cNvPr>
          <p:cNvSpPr/>
          <p:nvPr/>
        </p:nvSpPr>
        <p:spPr>
          <a:xfrm>
            <a:off x="7315200" y="5351227"/>
            <a:ext cx="6152379" cy="2217139"/>
          </a:xfrm>
          <a:prstGeom prst="roundRect">
            <a:avLst>
              <a:gd name="adj" fmla="val 2599"/>
            </a:avLst>
          </a:prstGeom>
          <a:solidFill>
            <a:srgbClr val="DFECE9"/>
          </a:solidFill>
          <a:ln w="7560">
            <a:solidFill>
              <a:srgbClr val="C5D2CF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411480" indent="-411480">
              <a:buFont typeface="+mj-lt"/>
              <a:buAutoNum type="arabicParenR" startAt="4"/>
            </a:pP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각 </a:t>
            </a:r>
            <a:r>
              <a:rPr lang="ko-KR" altLang="en-US" sz="2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파츠별</a:t>
            </a: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유사도 및 유사도의 평균 구하기</a:t>
            </a:r>
            <a:endParaRPr lang="en-US" altLang="ko-KR" sz="2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</a:t>
            </a:r>
          </a:p>
          <a:p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각 </a:t>
            </a:r>
            <a:r>
              <a:rPr lang="ko-KR" altLang="en-US" sz="2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파츠별</a:t>
            </a:r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(Head, Body, Left Arm, Right         </a:t>
            </a:r>
          </a:p>
          <a:p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Arm, Left Leg, Right Leg)</a:t>
            </a: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로 유사도를 계산</a:t>
            </a:r>
            <a:endParaRPr lang="en-US" altLang="ko-KR" sz="2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</a:p>
          <a:p>
            <a:r>
              <a:rPr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</a:t>
            </a: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각 유사도의 평균 값을 계산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DB97E2-8B3C-35AA-3304-7C009682A953}"/>
              </a:ext>
            </a:extLst>
          </p:cNvPr>
          <p:cNvSpPr txBox="1"/>
          <p:nvPr/>
        </p:nvSpPr>
        <p:spPr>
          <a:xfrm>
            <a:off x="471579" y="149045"/>
            <a:ext cx="585128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Compute Similarity Type 1</a:t>
            </a:r>
            <a:endParaRPr lang="ko-KR" altLang="en-US" sz="3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61CA343-25DC-1D96-52A9-2B7B4F4F56DC}"/>
              </a:ext>
            </a:extLst>
          </p:cNvPr>
          <p:cNvCxnSpPr/>
          <p:nvPr/>
        </p:nvCxnSpPr>
        <p:spPr>
          <a:xfrm>
            <a:off x="403860" y="731520"/>
            <a:ext cx="7052700" cy="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829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83D56-2434-B831-669F-53FB22879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16E6069-9F62-35A5-0916-5ED64C8F5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031" y="1874520"/>
            <a:ext cx="6298921" cy="55092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FE1BEB-DC48-BD12-806F-EA00FC2D93A7}"/>
              </a:ext>
            </a:extLst>
          </p:cNvPr>
          <p:cNvSpPr txBox="1"/>
          <p:nvPr/>
        </p:nvSpPr>
        <p:spPr>
          <a:xfrm>
            <a:off x="9504755" y="5273040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부위별 유사도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D3BDC2-E1FC-7421-C984-355A8516C4D9}"/>
              </a:ext>
            </a:extLst>
          </p:cNvPr>
          <p:cNvSpPr txBox="1"/>
          <p:nvPr/>
        </p:nvSpPr>
        <p:spPr>
          <a:xfrm>
            <a:off x="5162940" y="6547150"/>
            <a:ext cx="1087582" cy="305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347F0E-13A3-2241-3F75-128AC7FB731F}"/>
              </a:ext>
            </a:extLst>
          </p:cNvPr>
          <p:cNvSpPr txBox="1"/>
          <p:nvPr/>
        </p:nvSpPr>
        <p:spPr>
          <a:xfrm>
            <a:off x="6298320" y="6920530"/>
            <a:ext cx="1087582" cy="305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D3B9D8-3092-4428-58C0-D0B404BA9F95}"/>
              </a:ext>
            </a:extLst>
          </p:cNvPr>
          <p:cNvSpPr txBox="1"/>
          <p:nvPr/>
        </p:nvSpPr>
        <p:spPr>
          <a:xfrm>
            <a:off x="7433700" y="6920530"/>
            <a:ext cx="1087582" cy="305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B13895-231A-1073-6D8A-175333B1CA87}"/>
              </a:ext>
            </a:extLst>
          </p:cNvPr>
          <p:cNvSpPr txBox="1"/>
          <p:nvPr/>
        </p:nvSpPr>
        <p:spPr>
          <a:xfrm>
            <a:off x="7456560" y="6547150"/>
            <a:ext cx="1087582" cy="305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C6182F-D259-A650-9CAB-741BCF8753B3}"/>
              </a:ext>
            </a:extLst>
          </p:cNvPr>
          <p:cNvSpPr txBox="1"/>
          <p:nvPr/>
        </p:nvSpPr>
        <p:spPr>
          <a:xfrm>
            <a:off x="7456560" y="5990890"/>
            <a:ext cx="1087582" cy="305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2819F1EA-DB95-26C8-6F88-E2C05A1CB371}"/>
              </a:ext>
            </a:extLst>
          </p:cNvPr>
          <p:cNvCxnSpPr>
            <a:cxnSpLocks/>
            <a:stCxn id="16" idx="3"/>
            <a:endCxn id="7" idx="1"/>
          </p:cNvCxnSpPr>
          <p:nvPr/>
        </p:nvCxnSpPr>
        <p:spPr>
          <a:xfrm flipV="1">
            <a:off x="8544142" y="5457706"/>
            <a:ext cx="960613" cy="685801"/>
          </a:xfrm>
          <a:prstGeom prst="bentConnector3">
            <a:avLst/>
          </a:prstGeom>
          <a:ln w="19050">
            <a:solidFill>
              <a:srgbClr val="00B05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8DF49FD2-D373-2FE4-15D4-4741FE103EA2}"/>
              </a:ext>
            </a:extLst>
          </p:cNvPr>
          <p:cNvCxnSpPr>
            <a:cxnSpLocks/>
            <a:stCxn id="15" idx="3"/>
            <a:endCxn id="7" idx="1"/>
          </p:cNvCxnSpPr>
          <p:nvPr/>
        </p:nvCxnSpPr>
        <p:spPr>
          <a:xfrm flipV="1">
            <a:off x="8544142" y="5457706"/>
            <a:ext cx="960613" cy="1242061"/>
          </a:xfrm>
          <a:prstGeom prst="bentConnector3">
            <a:avLst/>
          </a:prstGeom>
          <a:ln w="19050">
            <a:solidFill>
              <a:srgbClr val="00B05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076E3822-1F8D-602D-BB4A-933B3136B4FC}"/>
              </a:ext>
            </a:extLst>
          </p:cNvPr>
          <p:cNvCxnSpPr>
            <a:cxnSpLocks/>
            <a:stCxn id="12" idx="2"/>
            <a:endCxn id="7" idx="1"/>
          </p:cNvCxnSpPr>
          <p:nvPr/>
        </p:nvCxnSpPr>
        <p:spPr>
          <a:xfrm rot="5400000" flipH="1" flipV="1">
            <a:off x="7289404" y="5010413"/>
            <a:ext cx="1768057" cy="2662644"/>
          </a:xfrm>
          <a:prstGeom prst="bentConnector4">
            <a:avLst>
              <a:gd name="adj1" fmla="val -12929"/>
              <a:gd name="adj2" fmla="val 81961"/>
            </a:avLst>
          </a:prstGeom>
          <a:ln w="19050">
            <a:solidFill>
              <a:srgbClr val="00B05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A0B99959-AA2E-DAD6-FA16-7D9ECBC9407C}"/>
              </a:ext>
            </a:extLst>
          </p:cNvPr>
          <p:cNvCxnSpPr>
            <a:cxnSpLocks/>
            <a:stCxn id="9" idx="2"/>
            <a:endCxn id="7" idx="1"/>
          </p:cNvCxnSpPr>
          <p:nvPr/>
        </p:nvCxnSpPr>
        <p:spPr>
          <a:xfrm rot="5400000" flipH="1" flipV="1">
            <a:off x="6908404" y="4256033"/>
            <a:ext cx="1394677" cy="3798024"/>
          </a:xfrm>
          <a:prstGeom prst="bentConnector4">
            <a:avLst>
              <a:gd name="adj1" fmla="val -43709"/>
              <a:gd name="adj2" fmla="val 87254"/>
            </a:avLst>
          </a:prstGeom>
          <a:ln w="19050">
            <a:solidFill>
              <a:srgbClr val="00B05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6C8B069C-0298-1439-1AC9-AD9D40B7DA84}"/>
              </a:ext>
            </a:extLst>
          </p:cNvPr>
          <p:cNvCxnSpPr>
            <a:cxnSpLocks/>
            <a:stCxn id="35" idx="0"/>
            <a:endCxn id="7" idx="1"/>
          </p:cNvCxnSpPr>
          <p:nvPr/>
        </p:nvCxnSpPr>
        <p:spPr>
          <a:xfrm rot="5400000" flipH="1" flipV="1">
            <a:off x="7328957" y="3815092"/>
            <a:ext cx="533184" cy="3818412"/>
          </a:xfrm>
          <a:prstGeom prst="bentConnector2">
            <a:avLst/>
          </a:prstGeom>
          <a:ln w="19050">
            <a:solidFill>
              <a:srgbClr val="00B05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AF20F33-3DA2-107D-5ECF-F44D0242E230}"/>
              </a:ext>
            </a:extLst>
          </p:cNvPr>
          <p:cNvSpPr txBox="1"/>
          <p:nvPr/>
        </p:nvSpPr>
        <p:spPr>
          <a:xfrm>
            <a:off x="5142552" y="5990890"/>
            <a:ext cx="1087582" cy="305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BE30191D-BB85-8FFC-1AF9-DD53C4174EDD}"/>
              </a:ext>
            </a:extLst>
          </p:cNvPr>
          <p:cNvCxnSpPr>
            <a:cxnSpLocks/>
            <a:stCxn id="40" idx="0"/>
            <a:endCxn id="7" idx="1"/>
          </p:cNvCxnSpPr>
          <p:nvPr/>
        </p:nvCxnSpPr>
        <p:spPr>
          <a:xfrm rot="5400000" flipH="1" flipV="1">
            <a:off x="8090231" y="4209955"/>
            <a:ext cx="166773" cy="2662276"/>
          </a:xfrm>
          <a:prstGeom prst="bentConnector2">
            <a:avLst/>
          </a:prstGeom>
          <a:ln w="19050">
            <a:solidFill>
              <a:srgbClr val="00B05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E6B4AF9-BCD1-0C47-2C83-64C9E5F5D9A0}"/>
              </a:ext>
            </a:extLst>
          </p:cNvPr>
          <p:cNvSpPr txBox="1"/>
          <p:nvPr/>
        </p:nvSpPr>
        <p:spPr>
          <a:xfrm>
            <a:off x="6298688" y="5624479"/>
            <a:ext cx="1087582" cy="305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EF2958D-E696-B291-299F-3E50B0CD07F8}"/>
              </a:ext>
            </a:extLst>
          </p:cNvPr>
          <p:cNvSpPr txBox="1"/>
          <p:nvPr/>
        </p:nvSpPr>
        <p:spPr>
          <a:xfrm>
            <a:off x="9504755" y="6884433"/>
            <a:ext cx="1872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전체 유사도 평균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B79218B-B9E3-F4F7-7122-FE6B9D5EE9E6}"/>
              </a:ext>
            </a:extLst>
          </p:cNvPr>
          <p:cNvSpPr txBox="1"/>
          <p:nvPr/>
        </p:nvSpPr>
        <p:spPr>
          <a:xfrm>
            <a:off x="7456560" y="6910887"/>
            <a:ext cx="1087582" cy="305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2AE99328-4CC8-6081-75FD-23ED83572C8D}"/>
              </a:ext>
            </a:extLst>
          </p:cNvPr>
          <p:cNvCxnSpPr>
            <a:cxnSpLocks/>
            <a:stCxn id="52" idx="2"/>
            <a:endCxn id="51" idx="2"/>
          </p:cNvCxnSpPr>
          <p:nvPr/>
        </p:nvCxnSpPr>
        <p:spPr>
          <a:xfrm rot="16200000" flipH="1">
            <a:off x="9201888" y="6014582"/>
            <a:ext cx="37645" cy="2440719"/>
          </a:xfrm>
          <a:prstGeom prst="bentConnector3">
            <a:avLst>
              <a:gd name="adj1" fmla="val 1597888"/>
            </a:avLst>
          </a:prstGeom>
          <a:ln w="19050"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F1E7727-77FD-88E2-398E-26DDBC3A1519}"/>
              </a:ext>
            </a:extLst>
          </p:cNvPr>
          <p:cNvSpPr txBox="1"/>
          <p:nvPr/>
        </p:nvSpPr>
        <p:spPr>
          <a:xfrm>
            <a:off x="2628899" y="2118360"/>
            <a:ext cx="3057443" cy="2266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6C45925-BC87-2DD6-2C90-D42DB8C9AC2E}"/>
              </a:ext>
            </a:extLst>
          </p:cNvPr>
          <p:cNvSpPr txBox="1"/>
          <p:nvPr/>
        </p:nvSpPr>
        <p:spPr>
          <a:xfrm>
            <a:off x="5699759" y="2118360"/>
            <a:ext cx="3057443" cy="2266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CBD4BFB-B3CE-4EA6-DC9A-446F1843C509}"/>
              </a:ext>
            </a:extLst>
          </p:cNvPr>
          <p:cNvSpPr txBox="1"/>
          <p:nvPr/>
        </p:nvSpPr>
        <p:spPr>
          <a:xfrm>
            <a:off x="3389621" y="1177745"/>
            <a:ext cx="153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 이미지 </a:t>
            </a:r>
            <a:r>
              <a:rPr lang="en-US" altLang="ko-KR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</a:t>
            </a:r>
            <a:endParaRPr lang="ko-KR" alt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2FDD52-CD5D-B134-7B8B-B10A35D6068E}"/>
              </a:ext>
            </a:extLst>
          </p:cNvPr>
          <p:cNvSpPr txBox="1"/>
          <p:nvPr/>
        </p:nvSpPr>
        <p:spPr>
          <a:xfrm>
            <a:off x="6438039" y="1177745"/>
            <a:ext cx="1580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 이미지 </a:t>
            </a:r>
            <a:r>
              <a:rPr lang="en-US" altLang="ko-KR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2</a:t>
            </a:r>
            <a:endParaRPr lang="ko-KR" alt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2F916D47-C510-3D6C-3E79-9C239C74D42D}"/>
              </a:ext>
            </a:extLst>
          </p:cNvPr>
          <p:cNvCxnSpPr>
            <a:cxnSpLocks/>
            <a:stCxn id="57" idx="0"/>
            <a:endCxn id="60" idx="2"/>
          </p:cNvCxnSpPr>
          <p:nvPr/>
        </p:nvCxnSpPr>
        <p:spPr>
          <a:xfrm rot="16200000" flipV="1">
            <a:off x="3871980" y="1832718"/>
            <a:ext cx="571283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68522943-C47E-DDDD-0A9D-ECAA6AFCAC04}"/>
              </a:ext>
            </a:extLst>
          </p:cNvPr>
          <p:cNvCxnSpPr>
            <a:cxnSpLocks/>
            <a:stCxn id="59" idx="0"/>
            <a:endCxn id="61" idx="2"/>
          </p:cNvCxnSpPr>
          <p:nvPr/>
        </p:nvCxnSpPr>
        <p:spPr>
          <a:xfrm rot="16200000" flipV="1">
            <a:off x="6942840" y="1832718"/>
            <a:ext cx="571283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F573B1B-C1D8-5CFC-F504-3A4CA8A9DDC9}"/>
              </a:ext>
            </a:extLst>
          </p:cNvPr>
          <p:cNvSpPr txBox="1"/>
          <p:nvPr/>
        </p:nvSpPr>
        <p:spPr>
          <a:xfrm>
            <a:off x="760940" y="5373886"/>
            <a:ext cx="15856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이미지 유사도</a:t>
            </a:r>
            <a:endParaRPr lang="en-US" altLang="ko-KR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r>
              <a:rPr lang="ko-KR" alt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 버튼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1F80293-A440-112E-A792-D7A9AE6160DE}"/>
              </a:ext>
            </a:extLst>
          </p:cNvPr>
          <p:cNvSpPr txBox="1"/>
          <p:nvPr/>
        </p:nvSpPr>
        <p:spPr>
          <a:xfrm>
            <a:off x="983756" y="4484370"/>
            <a:ext cx="13628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영상 유사도</a:t>
            </a:r>
            <a:endParaRPr lang="en-US" altLang="ko-KR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r>
              <a:rPr lang="ko-KR" alt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 버튼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A03D88B-7282-EB2C-0A76-B8F91EC97F93}"/>
              </a:ext>
            </a:extLst>
          </p:cNvPr>
          <p:cNvSpPr txBox="1"/>
          <p:nvPr/>
        </p:nvSpPr>
        <p:spPr>
          <a:xfrm>
            <a:off x="3663265" y="5051849"/>
            <a:ext cx="988711" cy="305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23FBBC6-28ED-045A-522C-61C8A8808052}"/>
              </a:ext>
            </a:extLst>
          </p:cNvPr>
          <p:cNvSpPr txBox="1"/>
          <p:nvPr/>
        </p:nvSpPr>
        <p:spPr>
          <a:xfrm>
            <a:off x="5171018" y="5057688"/>
            <a:ext cx="988711" cy="305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74" name="연결선: 꺾임 73">
            <a:extLst>
              <a:ext uri="{FF2B5EF4-FFF2-40B4-BE49-F238E27FC236}">
                <a16:creationId xmlns:a16="http://schemas.microsoft.com/office/drawing/2014/main" id="{5B377C04-8D5B-D4E8-9093-934246489832}"/>
              </a:ext>
            </a:extLst>
          </p:cNvPr>
          <p:cNvCxnSpPr>
            <a:cxnSpLocks/>
            <a:stCxn id="72" idx="2"/>
            <a:endCxn id="70" idx="3"/>
          </p:cNvCxnSpPr>
          <p:nvPr/>
        </p:nvCxnSpPr>
        <p:spPr>
          <a:xfrm rot="5400000">
            <a:off x="3082141" y="4621572"/>
            <a:ext cx="339970" cy="1810991"/>
          </a:xfrm>
          <a:prstGeom prst="bentConnector2">
            <a:avLst/>
          </a:prstGeom>
          <a:ln w="19050">
            <a:solidFill>
              <a:schemeClr val="accent2">
                <a:lumMod val="7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77">
            <a:extLst>
              <a:ext uri="{FF2B5EF4-FFF2-40B4-BE49-F238E27FC236}">
                <a16:creationId xmlns:a16="http://schemas.microsoft.com/office/drawing/2014/main" id="{4C73C7D6-9E79-36B0-C6B2-D0048FC74063}"/>
              </a:ext>
            </a:extLst>
          </p:cNvPr>
          <p:cNvCxnSpPr>
            <a:cxnSpLocks/>
            <a:stCxn id="73" idx="0"/>
            <a:endCxn id="71" idx="3"/>
          </p:cNvCxnSpPr>
          <p:nvPr/>
        </p:nvCxnSpPr>
        <p:spPr>
          <a:xfrm rot="16200000" flipV="1">
            <a:off x="3880926" y="3273240"/>
            <a:ext cx="250152" cy="3318744"/>
          </a:xfrm>
          <a:prstGeom prst="bentConnector2">
            <a:avLst/>
          </a:prstGeom>
          <a:ln w="19050">
            <a:solidFill>
              <a:schemeClr val="accent2">
                <a:lumMod val="7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37FA8776-395F-378B-1B09-1603932D53E1}"/>
              </a:ext>
            </a:extLst>
          </p:cNvPr>
          <p:cNvSpPr txBox="1"/>
          <p:nvPr/>
        </p:nvSpPr>
        <p:spPr>
          <a:xfrm>
            <a:off x="471579" y="149045"/>
            <a:ext cx="585128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30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en-US" altLang="ko-KR" dirty="0"/>
              <a:t>Compute Similarity Type 1</a:t>
            </a:r>
            <a:endParaRPr lang="ko-KR" altLang="en-US" dirty="0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92AC0C5B-4361-AF20-BADA-9AE42F7F1B03}"/>
              </a:ext>
            </a:extLst>
          </p:cNvPr>
          <p:cNvCxnSpPr/>
          <p:nvPr/>
        </p:nvCxnSpPr>
        <p:spPr>
          <a:xfrm>
            <a:off x="403860" y="731520"/>
            <a:ext cx="7052700" cy="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5" name="표 84">
            <a:extLst>
              <a:ext uri="{FF2B5EF4-FFF2-40B4-BE49-F238E27FC236}">
                <a16:creationId xmlns:a16="http://schemas.microsoft.com/office/drawing/2014/main" id="{08408632-238F-940C-AEF0-41040155D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574169"/>
              </p:ext>
            </p:extLst>
          </p:nvPr>
        </p:nvGraphicFramePr>
        <p:xfrm>
          <a:off x="11138536" y="5249210"/>
          <a:ext cx="3341058" cy="14833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670529">
                  <a:extLst>
                    <a:ext uri="{9D8B030D-6E8A-4147-A177-3AD203B41FA5}">
                      <a16:colId xmlns:a16="http://schemas.microsoft.com/office/drawing/2014/main" val="699938457"/>
                    </a:ext>
                  </a:extLst>
                </a:gridCol>
                <a:gridCol w="1670529">
                  <a:extLst>
                    <a:ext uri="{9D8B030D-6E8A-4147-A177-3AD203B41FA5}">
                      <a16:colId xmlns:a16="http://schemas.microsoft.com/office/drawing/2014/main" val="15897000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Similarity(%)</a:t>
                      </a:r>
                      <a:endParaRPr lang="ko-KR" altLang="en-US" sz="13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Font Color</a:t>
                      </a:r>
                      <a:endParaRPr lang="ko-KR" altLang="en-US" sz="13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310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Sim &gt; 85% </a:t>
                      </a:r>
                      <a:endParaRPr lang="ko-KR" altLang="en-US" sz="13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Green</a:t>
                      </a:r>
                      <a:endParaRPr lang="ko-KR" altLang="en-US" sz="13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566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50% ≤ Sim ≤ 85</a:t>
                      </a:r>
                      <a:endParaRPr lang="ko-KR" altLang="en-US" sz="13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Yellow</a:t>
                      </a:r>
                      <a:endParaRPr lang="ko-KR" altLang="en-US" sz="13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95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Sim &lt; 50%</a:t>
                      </a:r>
                      <a:endParaRPr lang="ko-KR" altLang="en-US" sz="13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Red</a:t>
                      </a:r>
                      <a:endParaRPr lang="ko-KR" altLang="en-US" sz="13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090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6117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2E3A854-878A-14CF-4134-C9DEF1611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845" y="845718"/>
            <a:ext cx="9647215" cy="42628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56B9C1-B4CA-4409-714B-4325B97BC261}"/>
              </a:ext>
            </a:extLst>
          </p:cNvPr>
          <p:cNvSpPr txBox="1"/>
          <p:nvPr/>
        </p:nvSpPr>
        <p:spPr>
          <a:xfrm>
            <a:off x="605540" y="2663721"/>
            <a:ext cx="1253227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160" b="1" dirty="0"/>
              <a:t>Image A</a:t>
            </a:r>
            <a:endParaRPr lang="ko-KR" altLang="en-US" sz="216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81256-CEEF-FDA7-9D8A-98222FBA04F1}"/>
              </a:ext>
            </a:extLst>
          </p:cNvPr>
          <p:cNvSpPr txBox="1"/>
          <p:nvPr/>
        </p:nvSpPr>
        <p:spPr>
          <a:xfrm>
            <a:off x="12754891" y="2663721"/>
            <a:ext cx="126348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160" b="1" dirty="0"/>
              <a:t>Image B</a:t>
            </a:r>
            <a:endParaRPr lang="ko-KR" altLang="en-US" sz="2160" b="1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30CADE63-76A5-B138-18C0-7B9ABB052908}"/>
              </a:ext>
            </a:extLst>
          </p:cNvPr>
          <p:cNvCxnSpPr>
            <a:cxnSpLocks/>
          </p:cNvCxnSpPr>
          <p:nvPr/>
        </p:nvCxnSpPr>
        <p:spPr>
          <a:xfrm flipH="1">
            <a:off x="7669107" y="1185160"/>
            <a:ext cx="1074843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7FA1DB1-5828-EAF7-1228-FC958A9E9DCF}"/>
              </a:ext>
            </a:extLst>
          </p:cNvPr>
          <p:cNvSpPr txBox="1"/>
          <p:nvPr/>
        </p:nvSpPr>
        <p:spPr>
          <a:xfrm>
            <a:off x="8969839" y="999422"/>
            <a:ext cx="1300163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  <a:highlight>
                  <a:srgbClr val="FFFF00"/>
                </a:highlight>
              </a:rPr>
              <a:t>SCORE</a:t>
            </a:r>
            <a:endParaRPr kumimoji="1" lang="ko-KR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Shape 1">
                <a:extLst>
                  <a:ext uri="{FF2B5EF4-FFF2-40B4-BE49-F238E27FC236}">
                    <a16:creationId xmlns:a16="http://schemas.microsoft.com/office/drawing/2014/main" id="{338A6710-5622-8351-C89A-C554AF425335}"/>
                  </a:ext>
                </a:extLst>
              </p:cNvPr>
              <p:cNvSpPr/>
              <p:nvPr/>
            </p:nvSpPr>
            <p:spPr>
              <a:xfrm>
                <a:off x="246422" y="5410718"/>
                <a:ext cx="7765332" cy="2418832"/>
              </a:xfrm>
              <a:prstGeom prst="roundRect">
                <a:avLst>
                  <a:gd name="adj" fmla="val 2599"/>
                </a:avLst>
              </a:prstGeom>
              <a:solidFill>
                <a:srgbClr val="DFECE9"/>
              </a:solidFill>
              <a:ln w="7560">
                <a:solidFill>
                  <a:srgbClr val="C5D2C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457200" indent="-457200">
                  <a:buAutoNum type="arabicParenR"/>
                </a:pPr>
                <a:r>
                  <a:rPr lang="ko-KR" altLang="en-US" sz="2160" dirty="0"/>
                  <a:t>알파 </a:t>
                </a:r>
                <a:r>
                  <a:rPr lang="ko-KR" altLang="en-US" sz="2160" dirty="0" err="1"/>
                  <a:t>블렌딩</a:t>
                </a:r>
                <a:r>
                  <a:rPr lang="en-US" altLang="ko-KR" sz="2160" dirty="0"/>
                  <a:t>(Overlay)</a:t>
                </a:r>
                <a:r>
                  <a:rPr lang="ko-KR" altLang="en-US" sz="2160" dirty="0"/>
                  <a:t>을 통한 시각적 비교</a:t>
                </a:r>
                <a:endParaRPr lang="en-US" altLang="ko-KR" sz="2160" dirty="0"/>
              </a:p>
              <a:p>
                <a:pPr marL="457200" indent="-457200">
                  <a:buAutoNum type="arabicParenR"/>
                </a:pPr>
                <a:endParaRPr lang="en-US" altLang="ko-KR" sz="2160" dirty="0"/>
              </a:p>
              <a:p>
                <a:pPr lvl="1" algn="just"/>
                <a:r>
                  <a:rPr lang="en" altLang="ko-KR" sz="2400" b="0" i="0" u="none" strike="noStrike" dirty="0">
                    <a:solidFill>
                      <a:srgbClr val="000000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m:rPr>
                        <m:sty m:val="p"/>
                      </m:rPr>
                      <a:rPr lang="en-US" altLang="ko-KR" sz="24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verlay</m:t>
                    </m:r>
                    <m:d>
                      <m:dPr>
                        <m:ctrlPr>
                          <a:rPr lang="en-US" altLang="ko-KR" sz="2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ko-KR" sz="2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" altLang="ko-KR" sz="2400" b="0" i="0" u="none" strike="noStrike" dirty="0">
                    <a:solidFill>
                      <a:srgbClr val="000000"/>
                    </a:solidFill>
                    <a:effectLst/>
                  </a:rPr>
                  <a:t> =</a:t>
                </a:r>
                <a:r>
                  <a:rPr lang="en-US" altLang="ko-KR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ko-KR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𝑡𝑎𝑟𝑔𝑒𝑡</m:t>
                        </m:r>
                      </m:sub>
                    </m:sSub>
                    <m:r>
                      <m:rPr>
                        <m:nor/>
                      </m:rPr>
                      <a:rPr lang="en" altLang="ko-KR" sz="2400" dirty="0">
                        <a:solidFill>
                          <a:srgbClr val="000000"/>
                        </a:solidFill>
                      </a:rPr>
                      <m:t>(</m:t>
                    </m:r>
                    <m:r>
                      <a:rPr lang="en-US" altLang="ko-KR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nor/>
                      </m:rPr>
                      <a:rPr lang="en" altLang="ko-KR" sz="2400" dirty="0">
                        <a:solidFill>
                          <a:srgbClr val="000000"/>
                        </a:solidFill>
                      </a:rPr>
                      <m:t>)</m:t>
                    </m:r>
                    <m:r>
                      <m:rPr>
                        <m:nor/>
                      </m:rPr>
                      <a:rPr lang="en-US" altLang="ko-KR" sz="2400" b="0" i="0" dirty="0" smtClean="0">
                        <a:solidFill>
                          <a:srgbClr val="000000"/>
                        </a:solidFill>
                      </a:rPr>
                      <m:t> </m:t>
                    </m:r>
                  </m:oMath>
                </a14:m>
                <a:r>
                  <a:rPr lang="en" altLang="ko-KR" sz="2400" b="0" i="0" u="none" strike="noStrike" dirty="0">
                    <a:solidFill>
                      <a:srgbClr val="000000"/>
                    </a:solidFill>
                    <a:effectLst/>
                  </a:rPr>
                  <a:t>+</a:t>
                </a:r>
                <a:r>
                  <a:rPr lang="en-US" altLang="ko-KR" sz="2400" dirty="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altLang="ko-KR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ko-KR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altLang="ko-KR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𝑐𝑜𝑚𝑝𝑎𝑟𝑒</m:t>
                        </m:r>
                      </m:sub>
                    </m:sSub>
                    <m:r>
                      <a:rPr lang="en-US" altLang="ko-KR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sz="2400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pPr lvl="1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𝑡𝑎𝑟𝑔𝑒𝑡</m:t>
                        </m:r>
                      </m:sub>
                    </m:sSub>
                    <m:r>
                      <a:rPr lang="en-US" altLang="ko-KR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2400" b="0" i="0" u="none" strike="noStrike" dirty="0">
                    <a:solidFill>
                      <a:srgbClr val="000000"/>
                    </a:solidFill>
                    <a:effectLst/>
                  </a:rPr>
                  <a:t> : </a:t>
                </a:r>
                <a:r>
                  <a:rPr lang="ko-KR" altLang="en-US" sz="2400" b="0" i="0" u="none" strike="noStrike" dirty="0">
                    <a:solidFill>
                      <a:srgbClr val="000000"/>
                    </a:solidFill>
                    <a:effectLst/>
                  </a:rPr>
                  <a:t>기준 이미지의 픽셀 값</a:t>
                </a:r>
              </a:p>
              <a:p>
                <a:pPr lvl="1" algn="just">
                  <a:buFont typeface="Arial" panose="020B0604020202020204" pitchFamily="34" charset="0"/>
                  <a:buChar char="•"/>
                </a:pPr>
                <a:r>
                  <a:rPr lang="en" altLang="ko-KR" sz="2400" b="0" i="0" u="none" strike="noStrike" dirty="0">
                    <a:solidFill>
                      <a:srgbClr val="000000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𝑐𝑜𝑚𝑝𝑎𝑟𝑒</m:t>
                        </m:r>
                      </m:sub>
                    </m:sSub>
                    <m:r>
                      <a:rPr lang="en-US" altLang="ko-KR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" altLang="ko-KR" sz="2400" b="0" i="0" u="none" strike="noStrike" dirty="0">
                    <a:solidFill>
                      <a:srgbClr val="000000"/>
                    </a:solidFill>
                    <a:effectLst/>
                  </a:rPr>
                  <a:t>​: </a:t>
                </a:r>
                <a:r>
                  <a:rPr lang="ko-KR" altLang="en-US" sz="2400" b="0" i="0" u="none" strike="noStrike" dirty="0">
                    <a:solidFill>
                      <a:srgbClr val="000000"/>
                    </a:solidFill>
                    <a:effectLst/>
                  </a:rPr>
                  <a:t>비교 이미지의 픽셀 값</a:t>
                </a:r>
              </a:p>
              <a:p>
                <a:pPr lvl="1" algn="just">
                  <a:buFont typeface="Arial" panose="020B0604020202020204" pitchFamily="34" charset="0"/>
                  <a:buChar char="•"/>
                </a:pPr>
                <a:r>
                  <a:rPr lang="en-US" altLang="ko-KR" sz="2400" b="0" i="0" u="none" strike="noStrike" dirty="0">
                    <a:solidFill>
                      <a:srgbClr val="000000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ko-KR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altLang="ko-KR" sz="2400" b="0" i="0" u="none" strike="noStrike" dirty="0">
                    <a:solidFill>
                      <a:srgbClr val="000000"/>
                    </a:solidFill>
                    <a:effectLst/>
                  </a:rPr>
                  <a:t>: </a:t>
                </a:r>
                <a:r>
                  <a:rPr lang="ko-KR" altLang="en-US" sz="2400" b="0" i="0" u="none" strike="noStrike" dirty="0">
                    <a:solidFill>
                      <a:srgbClr val="000000"/>
                    </a:solidFill>
                    <a:effectLst/>
                  </a:rPr>
                  <a:t>기준 이미지의 가중치 </a:t>
                </a:r>
                <a:r>
                  <a:rPr lang="en-US" altLang="ko-KR" sz="2400" b="0" i="0" u="none" strike="noStrike" dirty="0">
                    <a:solidFill>
                      <a:srgbClr val="000000"/>
                    </a:solidFill>
                    <a:effectLst/>
                  </a:rPr>
                  <a:t>(0~1 </a:t>
                </a:r>
                <a:r>
                  <a:rPr lang="ko-KR" altLang="en-US" sz="2400" b="0" i="0" u="none" strike="noStrike" dirty="0">
                    <a:solidFill>
                      <a:srgbClr val="000000"/>
                    </a:solidFill>
                    <a:effectLst/>
                  </a:rPr>
                  <a:t>사이의 값</a:t>
                </a:r>
                <a:r>
                  <a:rPr lang="en-US" altLang="ko-KR" sz="2400" b="0" i="0" u="none" strike="noStrike" dirty="0">
                    <a:solidFill>
                      <a:srgbClr val="000000"/>
                    </a:solidFill>
                    <a:effectLst/>
                  </a:rPr>
                  <a:t>)</a:t>
                </a:r>
              </a:p>
              <a:p>
                <a:pPr lvl="1"/>
                <a:endParaRPr lang="en-US" altLang="ko-KR" sz="2160" dirty="0"/>
              </a:p>
            </p:txBody>
          </p:sp>
        </mc:Choice>
        <mc:Fallback xmlns="">
          <p:sp>
            <p:nvSpPr>
              <p:cNvPr id="12" name="Shape 1">
                <a:extLst>
                  <a:ext uri="{FF2B5EF4-FFF2-40B4-BE49-F238E27FC236}">
                    <a16:creationId xmlns:a16="http://schemas.microsoft.com/office/drawing/2014/main" id="{338A6710-5622-8351-C89A-C554AF4253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22" y="5410718"/>
                <a:ext cx="7765332" cy="2418832"/>
              </a:xfrm>
              <a:prstGeom prst="roundRect">
                <a:avLst>
                  <a:gd name="adj" fmla="val 2599"/>
                </a:avLst>
              </a:prstGeom>
              <a:blipFill>
                <a:blip r:embed="rId4"/>
                <a:stretch>
                  <a:fillRect l="-653" t="-1047" b="-1571"/>
                </a:stretch>
              </a:blipFill>
              <a:ln w="7560">
                <a:solidFill>
                  <a:srgbClr val="C5D2CF"/>
                </a:solidFill>
                <a:rou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Shape 1">
                <a:extLst>
                  <a:ext uri="{FF2B5EF4-FFF2-40B4-BE49-F238E27FC236}">
                    <a16:creationId xmlns:a16="http://schemas.microsoft.com/office/drawing/2014/main" id="{59220331-38D0-09F5-38E8-30D1E6FCBFA1}"/>
                  </a:ext>
                </a:extLst>
              </p:cNvPr>
              <p:cNvSpPr/>
              <p:nvPr/>
            </p:nvSpPr>
            <p:spPr>
              <a:xfrm>
                <a:off x="8612082" y="5406473"/>
                <a:ext cx="5546830" cy="2601900"/>
              </a:xfrm>
              <a:prstGeom prst="roundRect">
                <a:avLst>
                  <a:gd name="adj" fmla="val 2599"/>
                </a:avLst>
              </a:prstGeom>
              <a:solidFill>
                <a:srgbClr val="DFECE9"/>
              </a:solidFill>
              <a:ln w="7560">
                <a:solidFill>
                  <a:srgbClr val="C5D2C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411480" indent="-411480">
                  <a:buFont typeface="+mj-lt"/>
                  <a:buAutoNum type="arabicParenR" startAt="2"/>
                </a:pPr>
                <a:r>
                  <a:rPr lang="ko-KR" altLang="en-US" sz="2160" dirty="0"/>
                  <a:t>키포인트 정규화</a:t>
                </a:r>
                <a:endParaRPr lang="en-US" altLang="ko-KR" sz="2160" dirty="0"/>
              </a:p>
              <a:p>
                <a:pPr marL="411480" indent="-411480">
                  <a:buFont typeface="+mj-lt"/>
                  <a:buAutoNum type="arabicParenR" startAt="2"/>
                </a:pPr>
                <a:endParaRPr lang="en-US" altLang="ko-KR" sz="2160" dirty="0"/>
              </a:p>
              <a:p>
                <a:r>
                  <a:rPr lang="ko-KR" altLang="en-US" sz="2160" dirty="0"/>
                  <a:t>     </a:t>
                </a:r>
                <a:r>
                  <a:rPr lang="en-US" altLang="ko-KR" sz="2160" dirty="0"/>
                  <a:t>   </a:t>
                </a:r>
                <a:r>
                  <a:rPr lang="ko-KR" altLang="en-US" sz="216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16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16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216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216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16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2160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altLang="ko-KR" sz="216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16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16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sz="2160" dirty="0"/>
                  <a:t> 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16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16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ko-KR" sz="216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216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16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2160" b="0" i="1" smtClean="0"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US" altLang="ko-KR" sz="216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16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216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altLang="ko-KR" sz="2160" b="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altLang="ko-KR" sz="2400" b="0" u="none" strike="noStrike" dirty="0">
                    <a:solidFill>
                      <a:srgbClr val="000000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2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sz="2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2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" altLang="ko-KR" sz="2400" b="0" i="0" u="none" strike="noStrike" dirty="0">
                    <a:solidFill>
                      <a:srgbClr val="000000"/>
                    </a:solidFill>
                    <a:effectLst/>
                  </a:rPr>
                  <a:t>: </a:t>
                </a:r>
                <a:r>
                  <a:rPr lang="ko-KR" altLang="en-US" sz="2400" b="0" i="0" u="none" strike="noStrike" dirty="0">
                    <a:solidFill>
                      <a:srgbClr val="000000"/>
                    </a:solidFill>
                    <a:effectLst/>
                  </a:rPr>
                  <a:t>원래 키포인트 좌표</a:t>
                </a:r>
                <a:endParaRPr lang="en-US" altLang="ko-KR" sz="2400" b="0" i="0" u="none" strike="noStrike" dirty="0">
                  <a:solidFill>
                    <a:srgbClr val="000000"/>
                  </a:solidFill>
                  <a:effectLst/>
                </a:endParaRP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" altLang="ko-KR" sz="2400" b="0" i="0" u="none" strike="noStrike" dirty="0">
                    <a:solidFill>
                      <a:srgbClr val="000000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altLang="ko-KR" sz="2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2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2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2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" altLang="ko-KR" sz="2400" b="0" i="0" u="none" strike="noStrike" dirty="0">
                    <a:solidFill>
                      <a:srgbClr val="000000"/>
                    </a:solidFill>
                    <a:effectLst/>
                  </a:rPr>
                  <a:t> : </a:t>
                </a:r>
                <a:r>
                  <a:rPr lang="ko-KR" altLang="en-US" sz="2400" b="0" i="0" u="none" strike="noStrike" dirty="0">
                    <a:solidFill>
                      <a:srgbClr val="000000"/>
                    </a:solidFill>
                    <a:effectLst/>
                  </a:rPr>
                  <a:t>중심점의 좌표</a:t>
                </a:r>
                <a:endParaRPr lang="en-US" altLang="ko-KR" sz="2400" b="0" i="0" u="none" strike="noStrike" dirty="0">
                  <a:solidFill>
                    <a:srgbClr val="000000"/>
                  </a:solidFill>
                  <a:effectLst/>
                </a:endParaRP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" altLang="ko-KR" sz="2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2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24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,   </m:t>
                    </m:r>
                    <m:sSup>
                      <m:sSupPr>
                        <m:ctrlPr>
                          <a:rPr lang="en" altLang="ko-KR" sz="2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ko-KR" sz="2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" altLang="ko-KR" sz="2400" b="0" i="0" u="none" strike="noStrike" dirty="0">
                    <a:solidFill>
                      <a:srgbClr val="000000"/>
                    </a:solidFill>
                    <a:effectLst/>
                  </a:rPr>
                  <a:t>: </a:t>
                </a:r>
                <a:r>
                  <a:rPr lang="ko-KR" altLang="en-US" sz="2400" b="0" i="0" u="none" strike="noStrike" dirty="0">
                    <a:solidFill>
                      <a:srgbClr val="000000"/>
                    </a:solidFill>
                    <a:effectLst/>
                  </a:rPr>
                  <a:t>중심점을 기준으로 변환된 </a:t>
                </a:r>
                <a:endParaRPr lang="en-US" altLang="ko-KR" sz="2400" b="0" i="0" u="none" strike="noStrike" dirty="0">
                  <a:solidFill>
                    <a:srgbClr val="000000"/>
                  </a:solidFill>
                  <a:effectLst/>
                </a:endParaRPr>
              </a:p>
              <a:p>
                <a:pPr lvl="1"/>
                <a:r>
                  <a:rPr lang="en-US" altLang="ko-KR" sz="2400" b="0" i="0" u="none" strike="noStrike" dirty="0">
                    <a:solidFill>
                      <a:srgbClr val="000000"/>
                    </a:solidFill>
                    <a:effectLst/>
                  </a:rPr>
                  <a:t>             </a:t>
                </a:r>
                <a:r>
                  <a:rPr lang="ko-KR" altLang="en-US" sz="2400" b="0" i="0" u="none" strike="noStrike" dirty="0">
                    <a:solidFill>
                      <a:srgbClr val="000000"/>
                    </a:solidFill>
                    <a:effectLst/>
                  </a:rPr>
                  <a:t>상대적 키포인트 좌표</a:t>
                </a:r>
                <a:endParaRPr lang="en-US" altLang="ko-KR" sz="2400" b="0" i="0" u="none" strike="noStrike" dirty="0">
                  <a:solidFill>
                    <a:srgbClr val="000000"/>
                  </a:solidFill>
                  <a:effectLst/>
                </a:endParaRPr>
              </a:p>
              <a:p>
                <a:pPr lvl="1"/>
                <a:r>
                  <a:rPr lang="ko-KR" altLang="en-US" sz="2160" dirty="0"/>
                  <a:t>      </a:t>
                </a:r>
              </a:p>
            </p:txBody>
          </p:sp>
        </mc:Choice>
        <mc:Fallback xmlns="">
          <p:sp>
            <p:nvSpPr>
              <p:cNvPr id="13" name="Shape 1">
                <a:extLst>
                  <a:ext uri="{FF2B5EF4-FFF2-40B4-BE49-F238E27FC236}">
                    <a16:creationId xmlns:a16="http://schemas.microsoft.com/office/drawing/2014/main" id="{59220331-38D0-09F5-38E8-30D1E6FCBF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2082" y="5406473"/>
                <a:ext cx="5546830" cy="2601900"/>
              </a:xfrm>
              <a:prstGeom prst="roundRect">
                <a:avLst>
                  <a:gd name="adj" fmla="val 2599"/>
                </a:avLst>
              </a:prstGeom>
              <a:blipFill>
                <a:blip r:embed="rId5"/>
                <a:stretch>
                  <a:fillRect l="-913" t="-966" b="-3382"/>
                </a:stretch>
              </a:blipFill>
              <a:ln w="7560">
                <a:solidFill>
                  <a:srgbClr val="C5D2CF"/>
                </a:solidFill>
                <a:rou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D3766DD-DF61-915C-07DC-DCF94287B4BA}"/>
              </a:ext>
            </a:extLst>
          </p:cNvPr>
          <p:cNvSpPr txBox="1"/>
          <p:nvPr/>
        </p:nvSpPr>
        <p:spPr>
          <a:xfrm>
            <a:off x="471579" y="149045"/>
            <a:ext cx="59250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30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en-US" altLang="ko-KR" dirty="0"/>
              <a:t>Compute Similarity Type 2</a:t>
            </a:r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A495577-C780-1CF0-02DC-F732441BA67A}"/>
              </a:ext>
            </a:extLst>
          </p:cNvPr>
          <p:cNvCxnSpPr/>
          <p:nvPr/>
        </p:nvCxnSpPr>
        <p:spPr>
          <a:xfrm>
            <a:off x="403860" y="731520"/>
            <a:ext cx="7052700" cy="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Image 0" descr="preencoded.png"/>
          <p:cNvPicPr/>
          <p:nvPr/>
        </p:nvPicPr>
        <p:blipFill>
          <a:blip r:embed="rId3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96" name="Text 0"/>
          <p:cNvSpPr/>
          <p:nvPr/>
        </p:nvSpPr>
        <p:spPr>
          <a:xfrm>
            <a:off x="793800" y="1587240"/>
            <a:ext cx="5670360" cy="70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zh-CN" sz="4450" b="0" strike="noStrike" spc="-1">
                <a:solidFill>
                  <a:srgbClr val="272D45"/>
                </a:solidFill>
                <a:latin typeface="Kanit Light"/>
                <a:ea typeface="Kanit Light"/>
              </a:rPr>
              <a:t>실험 및 결과 피드백</a:t>
            </a:r>
            <a:endParaRPr lang="en-US" sz="445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7" name="Image 1" descr="preencoded.png"/>
          <p:cNvPicPr/>
          <p:nvPr/>
        </p:nvPicPr>
        <p:blipFill>
          <a:blip r:embed="rId4"/>
          <a:stretch/>
        </p:blipFill>
        <p:spPr>
          <a:xfrm>
            <a:off x="793800" y="2636280"/>
            <a:ext cx="1133640" cy="2190960"/>
          </a:xfrm>
          <a:prstGeom prst="rect">
            <a:avLst/>
          </a:prstGeom>
          <a:ln w="0">
            <a:noFill/>
          </a:ln>
        </p:spPr>
      </p:pic>
      <p:sp>
        <p:nvSpPr>
          <p:cNvPr id="98" name="Text 1"/>
          <p:cNvSpPr/>
          <p:nvPr/>
        </p:nvSpPr>
        <p:spPr>
          <a:xfrm>
            <a:off x="2268000" y="286308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zh-CN" sz="2200" b="0" strike="noStrike" spc="-1">
                <a:solidFill>
                  <a:srgbClr val="2C3249"/>
                </a:solidFill>
                <a:latin typeface="Kanit Light"/>
                <a:ea typeface="Kanit Light"/>
              </a:rPr>
              <a:t>실험 환경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2"/>
          <p:cNvSpPr/>
          <p:nvPr/>
        </p:nvSpPr>
        <p:spPr>
          <a:xfrm>
            <a:off x="2268000" y="3353400"/>
            <a:ext cx="60818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>
              <a:lnSpc>
                <a:spcPts val="2849"/>
              </a:lnSpc>
              <a:buClr>
                <a:srgbClr val="2C3249"/>
              </a:buClr>
              <a:buFont typeface="Symbol" charset="2"/>
              <a:buChar char=""/>
            </a:pPr>
            <a:r>
              <a:rPr lang="zh-CN" sz="1750" b="0" strike="noStrike" spc="-1" dirty="0">
                <a:solidFill>
                  <a:srgbClr val="2C3249"/>
                </a:solidFill>
                <a:latin typeface="Martel Sans"/>
                <a:ea typeface="Martel Sans"/>
              </a:rPr>
              <a:t>사용 영상</a:t>
            </a:r>
            <a:r>
              <a:rPr lang="en-US" sz="1750" b="0" strike="noStrike" spc="-1" dirty="0">
                <a:solidFill>
                  <a:srgbClr val="2C3249"/>
                </a:solidFill>
                <a:latin typeface="Martel Sans"/>
                <a:ea typeface="Martel Sans"/>
              </a:rPr>
              <a:t>:</a:t>
            </a:r>
            <a:r>
              <a:rPr lang="ko-KR" altLang="en-US" sz="1750" spc="-1" dirty="0">
                <a:solidFill>
                  <a:srgbClr val="2C3249"/>
                </a:solidFill>
                <a:latin typeface="Martel Sans"/>
                <a:ea typeface="Martel Sans"/>
              </a:rPr>
              <a:t> </a:t>
            </a:r>
            <a:r>
              <a:rPr lang="en-US" altLang="ko-KR" sz="1750" spc="-1" dirty="0" err="1">
                <a:solidFill>
                  <a:srgbClr val="2C3249"/>
                </a:solidFill>
                <a:latin typeface="Martel Sans"/>
                <a:ea typeface="Martel Sans"/>
              </a:rPr>
              <a:t>Youtube</a:t>
            </a:r>
            <a:r>
              <a:rPr lang="en-US" altLang="ko-KR" sz="1750" spc="-1" dirty="0">
                <a:solidFill>
                  <a:srgbClr val="2C3249"/>
                </a:solidFill>
                <a:latin typeface="Martel Sans"/>
                <a:ea typeface="Martel Sans"/>
              </a:rPr>
              <a:t> </a:t>
            </a:r>
            <a:r>
              <a:rPr lang="ko-KR" altLang="en-US" sz="1750" spc="-1" dirty="0">
                <a:solidFill>
                  <a:srgbClr val="2C3249"/>
                </a:solidFill>
                <a:latin typeface="Martel Sans"/>
                <a:ea typeface="Martel Sans"/>
              </a:rPr>
              <a:t>요가 영상</a:t>
            </a:r>
            <a:endParaRPr lang="en-US" sz="175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2268000" y="3795840"/>
            <a:ext cx="60818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>
              <a:lnSpc>
                <a:spcPts val="2849"/>
              </a:lnSpc>
              <a:buClr>
                <a:srgbClr val="2C3249"/>
              </a:buClr>
              <a:buFont typeface="Symbol" charset="2"/>
              <a:buChar char=""/>
            </a:pPr>
            <a:r>
              <a:rPr lang="zh-CN" sz="1750" b="0" strike="noStrike" spc="-1" dirty="0">
                <a:solidFill>
                  <a:srgbClr val="2C3249"/>
                </a:solidFill>
                <a:latin typeface="Martel Sans"/>
                <a:ea typeface="Martel Sans"/>
              </a:rPr>
              <a:t>하드웨어</a:t>
            </a:r>
            <a:r>
              <a:rPr lang="en-US" sz="1750" b="0" strike="noStrike" spc="-1" dirty="0">
                <a:solidFill>
                  <a:srgbClr val="2C3249"/>
                </a:solidFill>
                <a:latin typeface="Martel Sans"/>
                <a:ea typeface="Martel Sans"/>
              </a:rPr>
              <a:t>:</a:t>
            </a:r>
            <a:r>
              <a:rPr lang="ko-KR" altLang="en-US" sz="1750" b="0" strike="noStrike" spc="-1" dirty="0">
                <a:solidFill>
                  <a:srgbClr val="2C3249"/>
                </a:solidFill>
                <a:latin typeface="Martel Sans"/>
                <a:ea typeface="Martel Sans"/>
              </a:rPr>
              <a:t> </a:t>
            </a:r>
            <a:r>
              <a:rPr lang="en-US" altLang="ko-KR" sz="1750" b="0" strike="noStrike" spc="-1" dirty="0">
                <a:solidFill>
                  <a:srgbClr val="2C3249"/>
                </a:solidFill>
                <a:latin typeface="Martel Sans"/>
                <a:ea typeface="Martel Sans"/>
              </a:rPr>
              <a:t>Desktop(</a:t>
            </a:r>
            <a:r>
              <a:rPr lang="en-US" altLang="ko-KR" sz="1750" spc="-1" dirty="0">
                <a:solidFill>
                  <a:srgbClr val="2C3249"/>
                </a:solidFill>
                <a:latin typeface="Martel Sans"/>
                <a:ea typeface="Martel Sans"/>
              </a:rPr>
              <a:t>Windows)</a:t>
            </a:r>
            <a:r>
              <a:rPr lang="en-US" sz="1750" b="0" strike="noStrike" spc="-1" dirty="0">
                <a:solidFill>
                  <a:srgbClr val="2C3249"/>
                </a:solidFill>
                <a:latin typeface="Martel Sans"/>
                <a:ea typeface="Martel Sans"/>
              </a:rPr>
              <a:t> </a:t>
            </a:r>
            <a:endParaRPr lang="en-US" sz="175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2268000" y="4237920"/>
            <a:ext cx="60818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>
              <a:lnSpc>
                <a:spcPts val="2849"/>
              </a:lnSpc>
              <a:buClr>
                <a:srgbClr val="2C3249"/>
              </a:buClr>
              <a:buFont typeface="Symbol" charset="2"/>
              <a:buChar char=""/>
            </a:pPr>
            <a:r>
              <a:rPr lang="zh-CN" sz="1750" b="0" strike="noStrike" spc="-1">
                <a:solidFill>
                  <a:srgbClr val="2C3249"/>
                </a:solidFill>
                <a:latin typeface="Martel Sans"/>
                <a:ea typeface="Martel Sans"/>
              </a:rPr>
              <a:t>소프트웨어</a:t>
            </a:r>
            <a:r>
              <a:rPr lang="en-US" sz="1750" b="0" strike="noStrike" spc="-1">
                <a:solidFill>
                  <a:srgbClr val="2C3249"/>
                </a:solidFill>
                <a:latin typeface="Martel Sans"/>
                <a:ea typeface="Martel Sans"/>
              </a:rPr>
              <a:t>: YOLOv8n-Pose, Python, Matplotlib </a:t>
            </a:r>
            <a:r>
              <a:rPr lang="zh-CN" sz="1750" b="0" strike="noStrike" spc="-1">
                <a:solidFill>
                  <a:srgbClr val="2C3249"/>
                </a:solidFill>
                <a:latin typeface="Martel Sans"/>
                <a:ea typeface="Martel Sans"/>
              </a:rPr>
              <a:t>등</a:t>
            </a:r>
            <a:endParaRPr lang="en-US" sz="175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2" name="Image 2" descr="preencoded.png"/>
          <p:cNvPicPr/>
          <p:nvPr/>
        </p:nvPicPr>
        <p:blipFill>
          <a:blip r:embed="rId5"/>
          <a:stretch/>
        </p:blipFill>
        <p:spPr>
          <a:xfrm>
            <a:off x="793800" y="4827600"/>
            <a:ext cx="1133640" cy="1814040"/>
          </a:xfrm>
          <a:prstGeom prst="rect">
            <a:avLst/>
          </a:prstGeom>
          <a:ln w="0">
            <a:noFill/>
          </a:ln>
        </p:spPr>
      </p:pic>
      <p:sp>
        <p:nvSpPr>
          <p:cNvPr id="103" name="Text 5"/>
          <p:cNvSpPr/>
          <p:nvPr/>
        </p:nvSpPr>
        <p:spPr>
          <a:xfrm>
            <a:off x="2268000" y="505440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zh-CN" sz="2200" b="0" strike="noStrike" spc="-1">
                <a:solidFill>
                  <a:srgbClr val="2C3249"/>
                </a:solidFill>
                <a:latin typeface="Kanit Light"/>
                <a:ea typeface="Kanit Light"/>
              </a:rPr>
              <a:t>결과 분석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6"/>
          <p:cNvSpPr/>
          <p:nvPr/>
        </p:nvSpPr>
        <p:spPr>
          <a:xfrm>
            <a:off x="2268000" y="5544720"/>
            <a:ext cx="60818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>
              <a:lnSpc>
                <a:spcPts val="2849"/>
              </a:lnSpc>
              <a:buClr>
                <a:srgbClr val="2C3249"/>
              </a:buClr>
              <a:buFont typeface="Symbol" charset="2"/>
              <a:buChar char=""/>
            </a:pPr>
            <a:r>
              <a:rPr lang="zh-CN" sz="1750" b="0" strike="noStrike" spc="-1" dirty="0">
                <a:solidFill>
                  <a:srgbClr val="2C3249"/>
                </a:solidFill>
                <a:latin typeface="Martel Sans"/>
                <a:ea typeface="Martel Sans"/>
              </a:rPr>
              <a:t>유사도 결과 그래프 </a:t>
            </a:r>
            <a:r>
              <a:rPr lang="en-US" sz="1750" b="0" strike="noStrike" spc="-1" dirty="0">
                <a:solidFill>
                  <a:srgbClr val="2C3249"/>
                </a:solidFill>
                <a:latin typeface="Martel Sans"/>
                <a:ea typeface="Martel Sans"/>
              </a:rPr>
              <a:t>(</a:t>
            </a:r>
            <a:r>
              <a:rPr lang="zh-CN" sz="1750" b="0" strike="noStrike" spc="-1" dirty="0">
                <a:solidFill>
                  <a:srgbClr val="2C3249"/>
                </a:solidFill>
                <a:latin typeface="Martel Sans"/>
                <a:ea typeface="Martel Sans"/>
              </a:rPr>
              <a:t>예시</a:t>
            </a:r>
            <a:r>
              <a:rPr lang="en-US" sz="1750" b="0" strike="noStrike" spc="-1" dirty="0">
                <a:solidFill>
                  <a:srgbClr val="2C3249"/>
                </a:solidFill>
                <a:latin typeface="Martel Sans"/>
                <a:ea typeface="Martel Sans"/>
              </a:rPr>
              <a:t>)</a:t>
            </a:r>
            <a:endParaRPr lang="en-US" sz="175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7"/>
          <p:cNvSpPr/>
          <p:nvPr/>
        </p:nvSpPr>
        <p:spPr>
          <a:xfrm>
            <a:off x="2268000" y="5987160"/>
            <a:ext cx="60818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>
              <a:lnSpc>
                <a:spcPts val="2849"/>
              </a:lnSpc>
              <a:buClr>
                <a:srgbClr val="2C3249"/>
              </a:buClr>
              <a:buFont typeface="Symbol" charset="2"/>
              <a:buChar char=""/>
            </a:pPr>
            <a:r>
              <a:rPr lang="zh-CN" sz="1750" b="0" strike="noStrike" spc="-1">
                <a:solidFill>
                  <a:srgbClr val="2C3249"/>
                </a:solidFill>
                <a:latin typeface="Martel Sans"/>
                <a:ea typeface="Martel Sans"/>
              </a:rPr>
              <a:t>평가 지표를 통한 성능 분석</a:t>
            </a:r>
            <a:endParaRPr lang="en-US" sz="17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5B05E-E16E-772F-1FAF-072A70EB9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>
            <a:extLst>
              <a:ext uri="{FF2B5EF4-FFF2-40B4-BE49-F238E27FC236}">
                <a16:creationId xmlns:a16="http://schemas.microsoft.com/office/drawing/2014/main" id="{BB6E52EB-211E-BA0D-A4A2-7E132BCDF62C}"/>
              </a:ext>
            </a:extLst>
          </p:cNvPr>
          <p:cNvSpPr/>
          <p:nvPr/>
        </p:nvSpPr>
        <p:spPr>
          <a:xfrm>
            <a:off x="579308" y="548120"/>
            <a:ext cx="5670360" cy="70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zh-CN" sz="4450" b="0" strike="noStrike" spc="-1" dirty="0">
                <a:solidFill>
                  <a:srgbClr val="272D45"/>
                </a:solidFill>
                <a:latin typeface="Kanit Light"/>
                <a:ea typeface="Kanit Light"/>
              </a:rPr>
              <a:t>한계점 및 개선 방안</a:t>
            </a:r>
            <a:endParaRPr lang="en-US" sz="4450" b="0" strike="noStrike" spc="-1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CD5D6AA-B8F3-1F92-084A-7FBB240E4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08" y="1514475"/>
            <a:ext cx="10104710" cy="4465053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426F0BE6-52A7-130C-BAC7-BD38B13CF6B3}"/>
              </a:ext>
            </a:extLst>
          </p:cNvPr>
          <p:cNvSpPr/>
          <p:nvPr/>
        </p:nvSpPr>
        <p:spPr>
          <a:xfrm>
            <a:off x="3414488" y="4114800"/>
            <a:ext cx="4114800" cy="172878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2FDDED4-1DE7-1C8D-EF55-EB92D4A7B3C3}"/>
              </a:ext>
            </a:extLst>
          </p:cNvPr>
          <p:cNvCxnSpPr>
            <a:cxnSpLocks/>
          </p:cNvCxnSpPr>
          <p:nvPr/>
        </p:nvCxnSpPr>
        <p:spPr>
          <a:xfrm>
            <a:off x="7658100" y="6960440"/>
            <a:ext cx="757238" cy="0"/>
          </a:xfrm>
          <a:prstGeom prst="straightConnector1">
            <a:avLst/>
          </a:prstGeom>
          <a:ln w="28575">
            <a:solidFill>
              <a:srgbClr val="0319BD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hape 1">
            <a:extLst>
              <a:ext uri="{FF2B5EF4-FFF2-40B4-BE49-F238E27FC236}">
                <a16:creationId xmlns:a16="http://schemas.microsoft.com/office/drawing/2014/main" id="{8CCE3AD0-258F-0C25-4721-D663CC37AD5E}"/>
              </a:ext>
            </a:extLst>
          </p:cNvPr>
          <p:cNvSpPr/>
          <p:nvPr/>
        </p:nvSpPr>
        <p:spPr>
          <a:xfrm>
            <a:off x="11486106" y="1138752"/>
            <a:ext cx="2751262" cy="2608249"/>
          </a:xfrm>
          <a:prstGeom prst="roundRect">
            <a:avLst>
              <a:gd name="adj" fmla="val 2599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7559">
            <a:solidFill>
              <a:srgbClr val="C5D2C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kumimoji="1" lang="en-US" altLang="ko-KR" sz="2400" dirty="0"/>
          </a:p>
          <a:p>
            <a:pPr algn="ctr"/>
            <a:r>
              <a:rPr kumimoji="1" lang="en-US" altLang="ko-KR" sz="2400" dirty="0"/>
              <a:t>Left Arm :   0.93</a:t>
            </a:r>
          </a:p>
          <a:p>
            <a:pPr algn="ctr"/>
            <a:r>
              <a:rPr kumimoji="1" lang="en-US" altLang="ko-KR" sz="2400" dirty="0"/>
              <a:t>Right Arm : 0.94</a:t>
            </a:r>
          </a:p>
          <a:p>
            <a:pPr algn="ctr"/>
            <a:r>
              <a:rPr kumimoji="1" lang="en-US" altLang="ko-KR" sz="2400" dirty="0"/>
              <a:t>Left Leg :   </a:t>
            </a:r>
            <a:r>
              <a:rPr kumimoji="1" lang="en-US" altLang="ko-KR" sz="2400" dirty="0">
                <a:highlight>
                  <a:srgbClr val="FFFF00"/>
                </a:highlight>
              </a:rPr>
              <a:t> 0.79</a:t>
            </a:r>
          </a:p>
          <a:p>
            <a:pPr algn="ctr"/>
            <a:r>
              <a:rPr kumimoji="1" lang="en-US" altLang="ko-KR" sz="2400" dirty="0"/>
              <a:t>Right Leg : 0.97</a:t>
            </a:r>
          </a:p>
          <a:p>
            <a:pPr algn="ctr"/>
            <a:r>
              <a:rPr kumimoji="1" lang="en-US" altLang="ko-KR" sz="2400" dirty="0"/>
              <a:t>Head :        0.78</a:t>
            </a:r>
            <a:endParaRPr kumimoji="1" lang="ko-KR" altLang="en-US" sz="2400" dirty="0"/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CE5052C6-22B8-7515-39C9-B00A16B052C3}"/>
              </a:ext>
            </a:extLst>
          </p:cNvPr>
          <p:cNvSpPr/>
          <p:nvPr/>
        </p:nvSpPr>
        <p:spPr>
          <a:xfrm>
            <a:off x="484982" y="6325962"/>
            <a:ext cx="6722143" cy="1421928"/>
          </a:xfrm>
          <a:prstGeom prst="roundRect">
            <a:avLst>
              <a:gd name="adj" fmla="val 2599"/>
            </a:avLst>
          </a:prstGeom>
          <a:solidFill>
            <a:srgbClr val="DFECE9"/>
          </a:solidFill>
          <a:ln w="7560">
            <a:solidFill>
              <a:srgbClr val="C5D2C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ko-KR" altLang="en-US" sz="2160" b="0" i="0" u="none" strike="noStrike" dirty="0">
                <a:solidFill>
                  <a:srgbClr val="000000"/>
                </a:solidFill>
                <a:effectLst/>
              </a:rPr>
              <a:t>같은 포즈를 취하고 있음에도 유사도 측정치가 낮다</a:t>
            </a:r>
            <a:r>
              <a:rPr lang="en-US" altLang="ko-KR" sz="2160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endParaRPr lang="en-US" altLang="ko-KR" sz="2160" dirty="0">
              <a:solidFill>
                <a:srgbClr val="000000"/>
              </a:solidFill>
            </a:endParaRPr>
          </a:p>
          <a:p>
            <a:r>
              <a:rPr lang="ko-KR" altLang="en-US" sz="2160" b="0" i="0" u="none" strike="noStrike" dirty="0">
                <a:solidFill>
                  <a:srgbClr val="000000"/>
                </a:solidFill>
                <a:effectLst/>
              </a:rPr>
              <a:t>이미지 크기를 맞추는 과정에서 비율이 왜곡되어 신체</a:t>
            </a:r>
            <a:endParaRPr lang="en-US" altLang="ko-KR" sz="2160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ko-KR" altLang="en-US" sz="2160" dirty="0">
                <a:solidFill>
                  <a:srgbClr val="000000"/>
                </a:solidFill>
              </a:rPr>
              <a:t>비율이 달라지고 키포인트의 상대적 위치가 변형됨</a:t>
            </a:r>
            <a:endParaRPr lang="en-US" altLang="ko-KR" sz="2160" b="0" i="0" u="none" strike="noStrike" dirty="0">
              <a:solidFill>
                <a:srgbClr val="000000"/>
              </a:solidFill>
              <a:effectLst/>
            </a:endParaRPr>
          </a:p>
          <a:p>
            <a:endParaRPr kumimoji="1" lang="ko-KR" altLang="en-US" sz="2160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71E8962A-E41A-F256-804A-C4FB45AB5170}"/>
              </a:ext>
            </a:extLst>
          </p:cNvPr>
          <p:cNvSpPr/>
          <p:nvPr/>
        </p:nvSpPr>
        <p:spPr>
          <a:xfrm>
            <a:off x="8866313" y="6325962"/>
            <a:ext cx="5371055" cy="1421928"/>
          </a:xfrm>
          <a:prstGeom prst="roundRect">
            <a:avLst>
              <a:gd name="adj" fmla="val 2599"/>
            </a:avLst>
          </a:prstGeom>
          <a:solidFill>
            <a:srgbClr val="DFECE9"/>
          </a:solidFill>
          <a:ln w="7560">
            <a:solidFill>
              <a:srgbClr val="C5D2C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ko-KR" altLang="en-US" sz="2160" b="0" i="0" u="none" strike="noStrike" dirty="0">
                <a:solidFill>
                  <a:srgbClr val="000000"/>
                </a:solidFill>
                <a:effectLst/>
              </a:rPr>
              <a:t>이미지의 종횡비를 유지하며 크기를 조정</a:t>
            </a:r>
            <a:endParaRPr lang="en-US" altLang="ko-KR" sz="2160" b="0" i="0" u="none" strike="noStrike" dirty="0">
              <a:solidFill>
                <a:srgbClr val="000000"/>
              </a:solidFill>
              <a:effectLst/>
            </a:endParaRPr>
          </a:p>
          <a:p>
            <a:endParaRPr lang="en-US" altLang="ko-KR" sz="2160" dirty="0">
              <a:solidFill>
                <a:srgbClr val="000000"/>
              </a:solidFill>
            </a:endParaRPr>
          </a:p>
          <a:p>
            <a:r>
              <a:rPr lang="ko-KR" altLang="en-US" sz="2160" b="0" i="0" u="none" strike="noStrike" dirty="0">
                <a:solidFill>
                  <a:srgbClr val="000000"/>
                </a:solidFill>
                <a:effectLst/>
              </a:rPr>
              <a:t>키포인트 </a:t>
            </a:r>
            <a:r>
              <a:rPr lang="ko-KR" altLang="en-US" sz="2160" b="0" i="0" u="none" strike="noStrike" dirty="0" err="1">
                <a:solidFill>
                  <a:srgbClr val="000000"/>
                </a:solidFill>
                <a:effectLst/>
              </a:rPr>
              <a:t>바운딩</a:t>
            </a:r>
            <a:r>
              <a:rPr lang="ko-KR" altLang="en-US" sz="2160" b="0" i="0" u="none" strike="noStrike" dirty="0">
                <a:solidFill>
                  <a:srgbClr val="000000"/>
                </a:solidFill>
                <a:effectLst/>
              </a:rPr>
              <a:t> 박스를 기준으로 크기를</a:t>
            </a:r>
            <a:endParaRPr lang="en-US" altLang="ko-KR" sz="2160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ko-KR" altLang="en-US" sz="2160" dirty="0">
                <a:solidFill>
                  <a:srgbClr val="000000"/>
                </a:solidFill>
              </a:rPr>
              <a:t>정규화 하여 왜곡을 방지</a:t>
            </a:r>
            <a:endParaRPr lang="en-US" altLang="ko-KR" sz="2160" b="0" i="0" u="none" strike="noStrike" dirty="0">
              <a:solidFill>
                <a:srgbClr val="000000"/>
              </a:solidFill>
              <a:effectLst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D200549-48C8-A46F-CDF7-BCFE01396169}"/>
              </a:ext>
            </a:extLst>
          </p:cNvPr>
          <p:cNvCxnSpPr>
            <a:cxnSpLocks/>
          </p:cNvCxnSpPr>
          <p:nvPr/>
        </p:nvCxnSpPr>
        <p:spPr>
          <a:xfrm>
            <a:off x="6837487" y="1863339"/>
            <a:ext cx="431482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152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793800" y="1516320"/>
            <a:ext cx="5670360" cy="70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zh-CN" sz="4450" b="0" strike="noStrike" spc="-1">
                <a:solidFill>
                  <a:srgbClr val="272D45"/>
                </a:solidFill>
                <a:latin typeface="Kanit Light"/>
                <a:ea typeface="Kanit Light"/>
              </a:rPr>
              <a:t>결론 및 향후 과제</a:t>
            </a:r>
            <a:endParaRPr lang="en-US" sz="445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6" name="Image 0" descr="preencoded.png"/>
          <p:cNvPicPr/>
          <p:nvPr/>
        </p:nvPicPr>
        <p:blipFill>
          <a:blip r:embed="rId3"/>
          <a:stretch/>
        </p:blipFill>
        <p:spPr>
          <a:xfrm>
            <a:off x="2978280" y="2678760"/>
            <a:ext cx="2151720" cy="1306440"/>
          </a:xfrm>
          <a:prstGeom prst="rect">
            <a:avLst/>
          </a:prstGeom>
          <a:ln w="0">
            <a:noFill/>
          </a:ln>
        </p:spPr>
      </p:pic>
      <p:sp>
        <p:nvSpPr>
          <p:cNvPr id="117" name="Text 1"/>
          <p:cNvSpPr/>
          <p:nvPr/>
        </p:nvSpPr>
        <p:spPr>
          <a:xfrm>
            <a:off x="4011120" y="3267720"/>
            <a:ext cx="85680" cy="45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3549"/>
              </a:lnSpc>
              <a:tabLst>
                <a:tab pos="0" algn="l"/>
              </a:tabLst>
            </a:pPr>
            <a:r>
              <a:rPr lang="en-US" sz="2200" b="0" strike="noStrike" spc="-1">
                <a:solidFill>
                  <a:srgbClr val="2C3249"/>
                </a:solidFill>
                <a:latin typeface="Kanit Light"/>
                <a:ea typeface="Kanit Light"/>
              </a:rPr>
              <a:t>1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2"/>
          <p:cNvSpPr/>
          <p:nvPr/>
        </p:nvSpPr>
        <p:spPr>
          <a:xfrm>
            <a:off x="5357160" y="29055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zh-CN" sz="2200" b="0" strike="noStrike" spc="-1">
                <a:solidFill>
                  <a:srgbClr val="2C3249"/>
                </a:solidFill>
                <a:latin typeface="Kanit Light"/>
                <a:ea typeface="Kanit Light"/>
              </a:rPr>
              <a:t>향후 과제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3"/>
          <p:cNvSpPr/>
          <p:nvPr/>
        </p:nvSpPr>
        <p:spPr>
          <a:xfrm>
            <a:off x="5357160" y="3396240"/>
            <a:ext cx="700668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ko-KR" altLang="en-US" sz="1750" b="0" strike="noStrike" spc="-1" dirty="0">
                <a:solidFill>
                  <a:srgbClr val="2C3249"/>
                </a:solidFill>
                <a:latin typeface="Martel Sans"/>
                <a:ea typeface="Martel Sans"/>
              </a:rPr>
              <a:t>다중 객체 및 </a:t>
            </a:r>
            <a:r>
              <a:rPr lang="zh-CN" sz="1750" b="0" strike="noStrike" spc="-1" dirty="0">
                <a:solidFill>
                  <a:srgbClr val="2C3249"/>
                </a:solidFill>
                <a:latin typeface="Martel Sans"/>
                <a:ea typeface="Martel Sans"/>
              </a:rPr>
              <a:t>다양한 모션 유형 학습</a:t>
            </a:r>
            <a:r>
              <a:rPr lang="en-US" sz="1750" b="0" strike="noStrike" spc="-1" dirty="0">
                <a:solidFill>
                  <a:srgbClr val="2C3249"/>
                </a:solidFill>
                <a:latin typeface="Martel Sans"/>
                <a:ea typeface="Martel Sans"/>
              </a:rPr>
              <a:t>, </a:t>
            </a:r>
            <a:r>
              <a:rPr lang="zh-CN" sz="1750" b="0" strike="noStrike" spc="-1" dirty="0">
                <a:solidFill>
                  <a:srgbClr val="2C3249"/>
                </a:solidFill>
                <a:latin typeface="Martel Sans"/>
                <a:ea typeface="Martel Sans"/>
              </a:rPr>
              <a:t>사용자 피드백 시스템 개선</a:t>
            </a:r>
            <a:r>
              <a:rPr lang="en-US" sz="1750" b="0" strike="noStrike" spc="-1" dirty="0">
                <a:solidFill>
                  <a:srgbClr val="2C3249"/>
                </a:solidFill>
                <a:latin typeface="Martel Sans"/>
                <a:ea typeface="Martel Sans"/>
              </a:rPr>
              <a:t>, </a:t>
            </a:r>
            <a:r>
              <a:rPr lang="zh-CN" sz="1750" b="0" strike="noStrike" spc="-1" dirty="0">
                <a:solidFill>
                  <a:srgbClr val="2C3249"/>
                </a:solidFill>
                <a:latin typeface="Martel Sans"/>
                <a:ea typeface="Martel Sans"/>
              </a:rPr>
              <a:t>상용화를 위한 추가 연구</a:t>
            </a:r>
            <a:endParaRPr lang="en-US" sz="175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4"/>
          <p:cNvSpPr/>
          <p:nvPr/>
        </p:nvSpPr>
        <p:spPr>
          <a:xfrm>
            <a:off x="5187240" y="3998880"/>
            <a:ext cx="8592480" cy="14760"/>
          </a:xfrm>
          <a:prstGeom prst="roundRect">
            <a:avLst>
              <a:gd name="adj" fmla="val 625116"/>
            </a:avLst>
          </a:prstGeom>
          <a:solidFill>
            <a:srgbClr val="C5D2C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560" rIns="90000" bIns="-3456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Image 1" descr="preencoded.png"/>
          <p:cNvPicPr/>
          <p:nvPr/>
        </p:nvPicPr>
        <p:blipFill>
          <a:blip r:embed="rId4"/>
          <a:stretch/>
        </p:blipFill>
        <p:spPr>
          <a:xfrm>
            <a:off x="1902240" y="4042440"/>
            <a:ext cx="4303800" cy="1306440"/>
          </a:xfrm>
          <a:prstGeom prst="rect">
            <a:avLst/>
          </a:prstGeom>
          <a:ln w="0">
            <a:noFill/>
          </a:ln>
        </p:spPr>
      </p:pic>
      <p:sp>
        <p:nvSpPr>
          <p:cNvPr id="122" name="Text 5"/>
          <p:cNvSpPr/>
          <p:nvPr/>
        </p:nvSpPr>
        <p:spPr>
          <a:xfrm>
            <a:off x="3982680" y="4469400"/>
            <a:ext cx="143280" cy="45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3549"/>
              </a:lnSpc>
              <a:tabLst>
                <a:tab pos="0" algn="l"/>
              </a:tabLst>
            </a:pPr>
            <a:r>
              <a:rPr lang="en-US" sz="2200" b="0" strike="noStrike" spc="-1">
                <a:solidFill>
                  <a:srgbClr val="2C3249"/>
                </a:solidFill>
                <a:latin typeface="Kanit Light"/>
                <a:ea typeface="Kanit Light"/>
              </a:rPr>
              <a:t>2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6"/>
          <p:cNvSpPr/>
          <p:nvPr/>
        </p:nvSpPr>
        <p:spPr>
          <a:xfrm>
            <a:off x="6433200" y="426924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zh-CN" sz="2200" b="0" strike="noStrike" spc="-1">
                <a:solidFill>
                  <a:srgbClr val="2C3249"/>
                </a:solidFill>
                <a:latin typeface="Kanit Light"/>
                <a:ea typeface="Kanit Light"/>
              </a:rPr>
              <a:t>응용 가능성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7"/>
          <p:cNvSpPr/>
          <p:nvPr/>
        </p:nvSpPr>
        <p:spPr>
          <a:xfrm>
            <a:off x="6433200" y="4759920"/>
            <a:ext cx="477612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zh-CN" sz="1750" b="0" strike="noStrike" spc="-1" dirty="0">
                <a:solidFill>
                  <a:srgbClr val="2C3249"/>
                </a:solidFill>
                <a:latin typeface="Martel Sans"/>
                <a:ea typeface="Martel Sans"/>
              </a:rPr>
              <a:t>실시간 피드백 제공을 통해 다양한 응용 가능성 제시</a:t>
            </a:r>
            <a:endParaRPr lang="en-US" sz="175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Shape 8"/>
          <p:cNvSpPr/>
          <p:nvPr/>
        </p:nvSpPr>
        <p:spPr>
          <a:xfrm>
            <a:off x="6263280" y="5362560"/>
            <a:ext cx="7516440" cy="14760"/>
          </a:xfrm>
          <a:prstGeom prst="roundRect">
            <a:avLst>
              <a:gd name="adj" fmla="val 625116"/>
            </a:avLst>
          </a:prstGeom>
          <a:solidFill>
            <a:srgbClr val="C5D2C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560" rIns="90000" bIns="-3456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Image 2" descr="preencoded.png"/>
          <p:cNvPicPr/>
          <p:nvPr/>
        </p:nvPicPr>
        <p:blipFill>
          <a:blip r:embed="rId5"/>
          <a:stretch/>
        </p:blipFill>
        <p:spPr>
          <a:xfrm>
            <a:off x="826200" y="5406120"/>
            <a:ext cx="6455880" cy="1306440"/>
          </a:xfrm>
          <a:prstGeom prst="rect">
            <a:avLst/>
          </a:prstGeom>
          <a:ln w="0">
            <a:noFill/>
          </a:ln>
        </p:spPr>
      </p:pic>
      <p:sp>
        <p:nvSpPr>
          <p:cNvPr id="127" name="Text 9"/>
          <p:cNvSpPr/>
          <p:nvPr/>
        </p:nvSpPr>
        <p:spPr>
          <a:xfrm>
            <a:off x="3981600" y="5832720"/>
            <a:ext cx="145440" cy="45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3549"/>
              </a:lnSpc>
              <a:tabLst>
                <a:tab pos="0" algn="l"/>
              </a:tabLst>
            </a:pPr>
            <a:r>
              <a:rPr lang="en-US" sz="2200" b="0" strike="noStrike" spc="-1">
                <a:solidFill>
                  <a:srgbClr val="2C3249"/>
                </a:solidFill>
                <a:latin typeface="Kanit Light"/>
                <a:ea typeface="Kanit Light"/>
              </a:rPr>
              <a:t>3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10"/>
          <p:cNvSpPr/>
          <p:nvPr/>
        </p:nvSpPr>
        <p:spPr>
          <a:xfrm>
            <a:off x="7509240" y="56329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zh-CN" sz="2200" b="0" strike="noStrike" spc="-1">
                <a:solidFill>
                  <a:srgbClr val="2C3249"/>
                </a:solidFill>
                <a:latin typeface="Kanit Light"/>
                <a:ea typeface="Kanit Light"/>
              </a:rPr>
              <a:t>결론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11"/>
          <p:cNvSpPr/>
          <p:nvPr/>
        </p:nvSpPr>
        <p:spPr>
          <a:xfrm>
            <a:off x="7509240" y="6123240"/>
            <a:ext cx="409392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zh-CN" sz="1750" b="0" strike="noStrike" spc="-1">
                <a:solidFill>
                  <a:srgbClr val="2C3249"/>
                </a:solidFill>
                <a:latin typeface="Martel Sans"/>
                <a:ea typeface="Martel Sans"/>
              </a:rPr>
              <a:t>기준 영상과 사용자의 모션 비교 시스템 개발</a:t>
            </a:r>
            <a:endParaRPr lang="en-US" sz="17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131" name="Text 0"/>
          <p:cNvSpPr/>
          <p:nvPr/>
        </p:nvSpPr>
        <p:spPr>
          <a:xfrm>
            <a:off x="6280200" y="3393720"/>
            <a:ext cx="5670360" cy="70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en-US" sz="4450" b="0" strike="noStrike" spc="-1" dirty="0">
                <a:solidFill>
                  <a:srgbClr val="272D45"/>
                </a:solidFill>
                <a:latin typeface="Kanit Light"/>
                <a:ea typeface="Kanit Light"/>
              </a:rPr>
              <a:t>Q&amp;A</a:t>
            </a:r>
            <a:endParaRPr lang="en-US" sz="445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6280200" y="4442400"/>
            <a:ext cx="7556040" cy="39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zh-CN" sz="1750" b="0" strike="noStrike" spc="-1">
                <a:solidFill>
                  <a:srgbClr val="2C3249"/>
                </a:solidFill>
                <a:latin typeface="Martel Sans"/>
                <a:ea typeface="Martel Sans"/>
              </a:rPr>
              <a:t>질문을 환영합니다</a:t>
            </a:r>
            <a:r>
              <a:rPr lang="en-US" sz="1750" b="0" strike="noStrike" spc="-1">
                <a:solidFill>
                  <a:srgbClr val="2C3249"/>
                </a:solidFill>
                <a:latin typeface="Martel Sans"/>
                <a:ea typeface="Martel Sans"/>
              </a:rPr>
              <a:t>! </a:t>
            </a:r>
            <a:r>
              <a:rPr lang="en-US" sz="1750" b="0" strike="noStrike" spc="-1">
                <a:solidFill>
                  <a:srgbClr val="000000"/>
                </a:solidFill>
                <a:latin typeface="Martel Sans"/>
                <a:ea typeface="Martel Sans"/>
              </a:rPr>
              <a:t>😊</a:t>
            </a:r>
            <a:endParaRPr lang="en-US" sz="17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338</TotalTime>
  <Words>813</Words>
  <Application>Microsoft Office PowerPoint</Application>
  <PresentationFormat>사용자 지정</PresentationFormat>
  <Paragraphs>138</Paragraphs>
  <Slides>12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9</vt:i4>
      </vt:variant>
      <vt:variant>
        <vt:lpstr>슬라이드 제목</vt:lpstr>
      </vt:variant>
      <vt:variant>
        <vt:i4>12</vt:i4>
      </vt:variant>
    </vt:vector>
  </HeadingPairs>
  <TitlesOfParts>
    <vt:vector size="32" baseType="lpstr">
      <vt:lpstr>G마켓 산스 TTF Bold</vt:lpstr>
      <vt:lpstr>G마켓 산스 TTF Medium</vt:lpstr>
      <vt:lpstr>Kanit Light</vt:lpstr>
      <vt:lpstr>Martel Sans</vt:lpstr>
      <vt:lpstr>Arial</vt:lpstr>
      <vt:lpstr>Calibri</vt:lpstr>
      <vt:lpstr>Calibri Light</vt:lpstr>
      <vt:lpstr>Cambria Math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cp:lastModifiedBy>Wonseok Park</cp:lastModifiedBy>
  <cp:revision>37</cp:revision>
  <dcterms:created xsi:type="dcterms:W3CDTF">2024-12-08T08:13:20Z</dcterms:created>
  <dcterms:modified xsi:type="dcterms:W3CDTF">2024-12-12T09:21:56Z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9</vt:r8>
  </property>
  <property fmtid="{D5CDD505-2E9C-101B-9397-08002B2CF9AE}" pid="3" name="PresentationFormat">
    <vt:lpwstr>On-screen Show (16:9)</vt:lpwstr>
  </property>
  <property fmtid="{D5CDD505-2E9C-101B-9397-08002B2CF9AE}" pid="4" name="Slides">
    <vt:r8>9</vt:r8>
  </property>
</Properties>
</file>